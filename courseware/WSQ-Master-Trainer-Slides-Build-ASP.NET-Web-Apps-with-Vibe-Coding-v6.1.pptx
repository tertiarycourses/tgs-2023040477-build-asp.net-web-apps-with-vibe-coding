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Unverified assumptions</c:v>
                </c:pt>
              </c:strCache>
            </c:strRef>
          </c:tx>
          <c:spPr>
            <a:solidFill>
              <a:srgbClr val="1F6FEB"/>
            </a:solidFill>
          </c:spPr>
          <c:cat>
            <c:strRef>
              <c:f>Sheet1!$A$2:$A$6</c:f>
              <c:strCache>
                <c:ptCount val="5"/>
                <c:pt idx="0">
                  <c:v>Baseline</c:v>
                </c:pt>
                <c:pt idx="1">
                  <c:v>AI patch</c:v>
                </c:pt>
                <c:pt idx="2">
                  <c:v>Review</c:v>
                </c:pt>
                <c:pt idx="3">
                  <c:v>Tests</c:v>
                </c:pt>
                <c:pt idx="4">
                  <c:v>Release</c:v>
                </c:pt>
              </c:strCache>
            </c:strRef>
          </c:cat>
          <c:val>
            <c:numRef>
              <c:f>Sheet1!$B$2:$B$6</c:f>
              <c:numCache>
                <c:formatCode>General</c:formatCode>
                <c:ptCount val="5"/>
                <c:pt idx="0">
                  <c:v>0</c:v>
                </c:pt>
                <c:pt idx="1">
                  <c:v>8</c:v>
                </c:pt>
                <c:pt idx="2">
                  <c:v>5</c:v>
                </c:pt>
                <c:pt idx="3">
                  <c:v>1</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Accessibility violations</c:v>
                </c:pt>
              </c:strCache>
            </c:strRef>
          </c:tx>
          <c:spPr>
            <a:solidFill>
              <a:srgbClr val="6D3FD2"/>
            </a:solidFill>
          </c:spPr>
          <c:cat>
            <c:strRef>
              <c:f>Sheet1!$A$2:$A$6</c:f>
              <c:strCache>
                <c:ptCount val="5"/>
                <c:pt idx="0">
                  <c:v>Baseline</c:v>
                </c:pt>
                <c:pt idx="1">
                  <c:v>AI patch</c:v>
                </c:pt>
                <c:pt idx="2">
                  <c:v>Review</c:v>
                </c:pt>
                <c:pt idx="3">
                  <c:v>Tests</c:v>
                </c:pt>
                <c:pt idx="4">
                  <c:v>Release</c:v>
                </c:pt>
              </c:strCache>
            </c:strRef>
          </c:cat>
          <c:val>
            <c:numRef>
              <c:f>Sheet1!$B$2:$B$6</c:f>
              <c:numCache>
                <c:formatCode>General</c:formatCode>
                <c:ptCount val="5"/>
                <c:pt idx="0">
                  <c:v>8</c:v>
                </c:pt>
                <c:pt idx="1">
                  <c:v>6</c:v>
                </c:pt>
                <c:pt idx="2">
                  <c:v>3</c:v>
                </c:pt>
                <c:pt idx="3">
                  <c:v>1</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Invalid writes accepted</c:v>
                </c:pt>
              </c:strCache>
            </c:strRef>
          </c:tx>
          <c:spPr>
            <a:solidFill>
              <a:srgbClr val="108A73"/>
            </a:solidFill>
          </c:spPr>
          <c:cat>
            <c:strRef>
              <c:f>Sheet1!$A$2:$A$6</c:f>
              <c:strCache>
                <c:ptCount val="5"/>
                <c:pt idx="0">
                  <c:v>Baseline</c:v>
                </c:pt>
                <c:pt idx="1">
                  <c:v>AI patch</c:v>
                </c:pt>
                <c:pt idx="2">
                  <c:v>Review</c:v>
                </c:pt>
                <c:pt idx="3">
                  <c:v>Tests</c:v>
                </c:pt>
                <c:pt idx="4">
                  <c:v>Release</c:v>
                </c:pt>
              </c:strCache>
            </c:strRef>
          </c:cat>
          <c:val>
            <c:numRef>
              <c:f>Sheet1!$B$2:$B$6</c:f>
              <c:numCache>
                <c:formatCode>General</c:formatCode>
                <c:ptCount val="5"/>
                <c:pt idx="0">
                  <c:v>12</c:v>
                </c:pt>
                <c:pt idx="1">
                  <c:v>7</c:v>
                </c:pt>
                <c:pt idx="2">
                  <c:v>3</c:v>
                </c:pt>
                <c:pt idx="3">
                  <c:v>1</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4.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Contract checks passed</c:v>
                </c:pt>
              </c:strCache>
            </c:strRef>
          </c:tx>
          <c:spPr>
            <a:solidFill>
              <a:srgbClr val="16845B"/>
            </a:solidFill>
          </c:spPr>
          <c:cat>
            <c:strRef>
              <c:f>Sheet1!$A$2:$A$6</c:f>
              <c:strCache>
                <c:ptCount val="5"/>
                <c:pt idx="0">
                  <c:v>Baseline</c:v>
                </c:pt>
                <c:pt idx="1">
                  <c:v>AI patch</c:v>
                </c:pt>
                <c:pt idx="2">
                  <c:v>Review</c:v>
                </c:pt>
                <c:pt idx="3">
                  <c:v>Tests</c:v>
                </c:pt>
                <c:pt idx="4">
                  <c:v>Release</c:v>
                </c:pt>
              </c:strCache>
            </c:strRef>
          </c:cat>
          <c:val>
            <c:numRef>
              <c:f>Sheet1!$B$2:$B$6</c:f>
              <c:numCache>
                <c:formatCode>General</c:formatCode>
                <c:ptCount val="5"/>
                <c:pt idx="0">
                  <c:v>0</c:v>
                </c:pt>
                <c:pt idx="1">
                  <c:v>3</c:v>
                </c:pt>
                <c:pt idx="2">
                  <c:v>7</c:v>
                </c:pt>
                <c:pt idx="3">
                  <c:v>11</c:v>
                </c:pt>
                <c:pt idx="4">
                  <c:v>14</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6.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Release evidence items</c:v>
                </c:pt>
              </c:strCache>
            </c:strRef>
          </c:tx>
          <c:spPr>
            <a:solidFill>
              <a:srgbClr val="1F6FEB"/>
            </a:solidFill>
          </c:spPr>
          <c:cat>
            <c:strRef>
              <c:f>Sheet1!$A$2:$A$6</c:f>
              <c:strCache>
                <c:ptCount val="5"/>
                <c:pt idx="0">
                  <c:v>Baseline</c:v>
                </c:pt>
                <c:pt idx="1">
                  <c:v>AI patch</c:v>
                </c:pt>
                <c:pt idx="2">
                  <c:v>Review</c:v>
                </c:pt>
                <c:pt idx="3">
                  <c:v>Tests</c:v>
                </c:pt>
                <c:pt idx="4">
                  <c:v>Release</c:v>
                </c:pt>
              </c:strCache>
            </c:strRef>
          </c:cat>
          <c:val>
            <c:numRef>
              <c:f>Sheet1!$B$2:$B$6</c:f>
              <c:numCache>
                <c:formatCode>General</c:formatCode>
                <c:ptCount val="5"/>
                <c:pt idx="0">
                  <c:v>0</c:v>
                </c:pt>
                <c:pt idx="1">
                  <c:v>1</c:v>
                </c:pt>
                <c:pt idx="2">
                  <c:v>3</c:v>
                </c:pt>
                <c:pt idx="3">
                  <c:v>6</c:v>
                </c:pt>
                <c:pt idx="4">
                  <c:v>9</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1.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40477-Build-ASP.NET-Web-Apps-with-Vibe-Cod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 y="0"/>
            <a:ext cx="73152" cy="68580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658368" y="384048"/>
            <a:ext cx="658368" cy="658368"/>
          </a:xfrm>
          <a:prstGeom prst="rect">
            <a:avLst/>
          </a:prstGeom>
        </p:spPr>
      </p:pic>
      <p:sp>
        <p:nvSpPr>
          <p:cNvPr id="6" name="TextBox 5"/>
          <p:cNvSpPr txBox="1"/>
          <p:nvPr/>
        </p:nvSpPr>
        <p:spPr>
          <a:xfrm>
            <a:off x="658368" y="1325880"/>
            <a:ext cx="4983480" cy="292608"/>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WSQ · SOFTWARE DESIGN</a:t>
            </a:r>
          </a:p>
        </p:txBody>
      </p:sp>
      <p:sp>
        <p:nvSpPr>
          <p:cNvPr id="7" name="TextBox 6"/>
          <p:cNvSpPr txBox="1"/>
          <p:nvPr/>
        </p:nvSpPr>
        <p:spPr>
          <a:xfrm>
            <a:off x="658368" y="1737360"/>
            <a:ext cx="5074920" cy="1444752"/>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Build ASP.NET Web Apps with Vibe Coding</a:t>
            </a:r>
          </a:p>
        </p:txBody>
      </p:sp>
      <p:sp>
        <p:nvSpPr>
          <p:cNvPr id="8" name="Rectangle 7"/>
          <p:cNvSpPr/>
          <p:nvPr/>
        </p:nvSpPr>
        <p:spPr>
          <a:xfrm>
            <a:off x="658368" y="3310128"/>
            <a:ext cx="1783080" cy="64008"/>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584448"/>
            <a:ext cx="5029200" cy="1371600"/>
          </a:xfrm>
          <a:prstGeom prst="rect">
            <a:avLst/>
          </a:prstGeom>
          <a:noFill/>
        </p:spPr>
        <p:txBody>
          <a:bodyPr wrap="square" lIns="27432" rIns="27432" tIns="27432" bIns="27432">
            <a:spAutoFit/>
          </a:bodyPr>
          <a:lstStyle/>
          <a:p>
            <a:pPr>
              <a:spcAft>
                <a:spcPts val="300"/>
              </a:spcAft>
            </a:pPr>
            <a:r>
              <a:rPr sz="1400" b="1">
                <a:solidFill>
                  <a:srgbClr val="161B26"/>
                </a:solidFill>
                <a:latin typeface="Arial"/>
              </a:rPr>
              <a:t>Course Code: TGS-2023040477</a:t>
            </a:r>
          </a:p>
          <a:p>
            <a:pPr>
              <a:spcAft>
                <a:spcPts val="300"/>
              </a:spcAft>
            </a:pPr>
            <a:r>
              <a:rPr sz="1200" b="0">
                <a:solidFill>
                  <a:srgbClr val="5B6372"/>
                </a:solidFill>
                <a:latin typeface="Arial"/>
              </a:rPr>
              <a:t>Software Design · ICT-DES-3005-1.1</a:t>
            </a:r>
          </a:p>
          <a:p>
            <a:pPr>
              <a:spcAft>
                <a:spcPts val="300"/>
              </a:spcAft>
            </a:pPr>
            <a:r>
              <a:rPr sz="1200" b="0">
                <a:solidFill>
                  <a:srgbClr val="5B6372"/>
                </a:solidFill>
                <a:latin typeface="Arial"/>
              </a:rPr>
              <a:t>Trainer: Dr. Alfred Ang</a:t>
            </a:r>
          </a:p>
          <a:p>
            <a:pPr>
              <a:spcAft>
                <a:spcPts val="300"/>
              </a:spcAft>
            </a:pPr>
            <a:r>
              <a:rPr sz="1100" b="0">
                <a:solidFill>
                  <a:srgbClr val="5B6372"/>
                </a:solidFill>
                <a:latin typeface="Arial"/>
              </a:rPr>
              <a:t>Version 6.1 · 12 September 2026</a:t>
            </a:r>
          </a:p>
        </p:txBody>
      </p:sp>
      <p:sp>
        <p:nvSpPr>
          <p:cNvPr id="10" name="TextBox 9"/>
          <p:cNvSpPr txBox="1"/>
          <p:nvPr/>
        </p:nvSpPr>
        <p:spPr>
          <a:xfrm>
            <a:off x="658368" y="5257800"/>
            <a:ext cx="5212080" cy="50292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Tertiary Infotech Academy Pte Ltd
UEN 201200696W</a:t>
            </a:r>
          </a:p>
        </p:txBody>
      </p:sp>
      <p:pic>
        <p:nvPicPr>
          <p:cNvPr id="11" name="Picture 10" descr="cover-hero-v1.png"/>
          <p:cNvPicPr>
            <a:picLocks noChangeAspect="1"/>
          </p:cNvPicPr>
          <p:nvPr/>
        </p:nvPicPr>
        <p:blipFill>
          <a:blip r:embed="rId3"/>
          <a:stretch>
            <a:fillRect/>
          </a:stretch>
        </p:blipFill>
        <p:spPr>
          <a:xfrm>
            <a:off x="5989320" y="594360"/>
            <a:ext cx="5760720" cy="5440680"/>
          </a:xfrm>
          <a:prstGeom prst="rect">
            <a:avLst/>
          </a:prstGeom>
        </p:spPr>
      </p:pic>
      <p:sp>
        <p:nvSpPr>
          <p:cNvPr id="12" name="TextBox 11"/>
          <p:cNvSpPr txBox="1"/>
          <p:nvPr/>
        </p:nvSpPr>
        <p:spPr>
          <a:xfrm>
            <a:off x="658368" y="6419088"/>
            <a:ext cx="10972800" cy="210312"/>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 2026 Tertiary Infotech Academy Pte Ltd. All rights reserved.</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TRAQOM · SSG DIGITAL ATTENDANCE</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Digital Attendance (Mandatory)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AM attendance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Scan the SSG QR code shown by the trainer.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PM attendance</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the second attendance event after lunch.</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Assessment attendance</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the dedicated assessment attendance.</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Evidence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Minimum 75% attendance and competent assessment are funding conditions.</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5B6372"/>
                </a:solidFill>
                <a:latin typeface="Arial"/>
              </a:rPr>
              <a:t>COURSE ADMINISTRATION</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About the Trainer</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a:t>
            </a:r>
          </a:p>
        </p:txBody>
      </p:sp>
      <p:sp>
        <p:nvSpPr>
          <p:cNvPr id="10" name="Rounded Rectangle 9"/>
          <p:cNvSpPr/>
          <p:nvPr/>
        </p:nvSpPr>
        <p:spPr>
          <a:xfrm>
            <a:off x="658368" y="1700784"/>
            <a:ext cx="3401568" cy="42062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81912" y="2240280"/>
            <a:ext cx="1554480" cy="1554480"/>
          </a:xfrm>
          <a:prstGeom prst="ellipse">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81912" y="2642616"/>
            <a:ext cx="1554480" cy="411480"/>
          </a:xfrm>
          <a:prstGeom prst="rect">
            <a:avLst/>
          </a:prstGeom>
          <a:noFill/>
        </p:spPr>
        <p:txBody>
          <a:bodyPr wrap="square" lIns="27432" rIns="27432" tIns="27432" bIns="27432" anchor="t">
            <a:spAutoFit/>
          </a:bodyPr>
          <a:lstStyle/>
          <a:p>
            <a:pPr algn="ctr">
              <a:spcAft>
                <a:spcPts val="0"/>
              </a:spcAft>
            </a:pPr>
            <a:r>
              <a:rPr sz="3400" b="1">
                <a:solidFill>
                  <a:srgbClr val="FFFFFF"/>
                </a:solidFill>
                <a:latin typeface="Arial"/>
              </a:rPr>
              <a:t>?</a:t>
            </a:r>
          </a:p>
        </p:txBody>
      </p:sp>
      <p:sp>
        <p:nvSpPr>
          <p:cNvPr id="13" name="TextBox 12"/>
          <p:cNvSpPr txBox="1"/>
          <p:nvPr/>
        </p:nvSpPr>
        <p:spPr>
          <a:xfrm>
            <a:off x="896112" y="4160520"/>
            <a:ext cx="2926080" cy="411480"/>
          </a:xfrm>
          <a:prstGeom prst="rect">
            <a:avLst/>
          </a:prstGeom>
          <a:noFill/>
        </p:spPr>
        <p:txBody>
          <a:bodyPr wrap="square" lIns="27432" rIns="27432" tIns="27432" bIns="27432" anchor="t">
            <a:spAutoFit/>
          </a:bodyPr>
          <a:lstStyle/>
          <a:p>
            <a:pPr algn="ctr">
              <a:spcAft>
                <a:spcPts val="0"/>
              </a:spcAft>
            </a:pPr>
            <a:r>
              <a:rPr sz="1800" b="1">
                <a:solidFill>
                  <a:srgbClr val="161B26"/>
                </a:solidFill>
                <a:latin typeface="Arial"/>
              </a:rPr>
              <a:t>General Trainer template</a:t>
            </a:r>
          </a:p>
        </p:txBody>
      </p:sp>
      <p:sp>
        <p:nvSpPr>
          <p:cNvPr id="14" name="TextBox 13"/>
          <p:cNvSpPr txBox="1"/>
          <p:nvPr/>
        </p:nvSpPr>
        <p:spPr>
          <a:xfrm>
            <a:off x="896112" y="4736592"/>
            <a:ext cx="2926080" cy="731520"/>
          </a:xfrm>
          <a:prstGeom prst="rect">
            <a:avLst/>
          </a:prstGeom>
          <a:noFill/>
        </p:spPr>
        <p:txBody>
          <a:bodyPr wrap="square" lIns="27432" rIns="27432" tIns="27432" bIns="27432" anchor="t">
            <a:spAutoFit/>
          </a:bodyPr>
          <a:lstStyle/>
          <a:p>
            <a:pPr algn="ctr">
              <a:spcAft>
                <a:spcPts val="0"/>
              </a:spcAft>
            </a:pPr>
            <a:r>
              <a:rPr sz="1100" b="0">
                <a:solidFill>
                  <a:srgbClr val="5B6372"/>
                </a:solidFill>
                <a:latin typeface="Arial"/>
              </a:rPr>
              <a:t>Complete before delivery</a:t>
            </a:r>
          </a:p>
        </p:txBody>
      </p:sp>
      <p:sp>
        <p:nvSpPr>
          <p:cNvPr id="15" name="Rounded Rectangle 14"/>
          <p:cNvSpPr/>
          <p:nvPr/>
        </p:nvSpPr>
        <p:spPr>
          <a:xfrm>
            <a:off x="4334256" y="1700784"/>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4256" y="1700784"/>
            <a:ext cx="82296" cy="5760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792224"/>
            <a:ext cx="2331720" cy="201168"/>
          </a:xfrm>
          <a:prstGeom prst="rect">
            <a:avLst/>
          </a:prstGeom>
          <a:noFill/>
        </p:spPr>
        <p:txBody>
          <a:bodyPr wrap="square" lIns="27432" rIns="27432" tIns="27432" bIns="27432" anchor="t">
            <a:spAutoFit/>
          </a:bodyPr>
          <a:lstStyle/>
          <a:p>
            <a:pPr algn="l">
              <a:spcAft>
                <a:spcPts val="0"/>
              </a:spcAft>
            </a:pPr>
            <a:r>
              <a:rPr sz="950" b="1">
                <a:solidFill>
                  <a:srgbClr val="1F6FEB"/>
                </a:solidFill>
                <a:latin typeface="Arial"/>
              </a:rPr>
              <a:t>NAME</a:t>
            </a:r>
          </a:p>
        </p:txBody>
      </p:sp>
      <p:sp>
        <p:nvSpPr>
          <p:cNvPr id="18" name="TextBox 17"/>
          <p:cNvSpPr txBox="1"/>
          <p:nvPr/>
        </p:nvSpPr>
        <p:spPr>
          <a:xfrm>
            <a:off x="6720840" y="1792224"/>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
        <p:nvSpPr>
          <p:cNvPr id="19" name="Rounded Rectangle 18"/>
          <p:cNvSpPr/>
          <p:nvPr/>
        </p:nvSpPr>
        <p:spPr>
          <a:xfrm>
            <a:off x="4334256" y="2404872"/>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34256" y="2404872"/>
            <a:ext cx="82296" cy="57607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2496312"/>
            <a:ext cx="2331720" cy="201168"/>
          </a:xfrm>
          <a:prstGeom prst="rect">
            <a:avLst/>
          </a:prstGeom>
          <a:noFill/>
        </p:spPr>
        <p:txBody>
          <a:bodyPr wrap="square" lIns="27432" rIns="27432" tIns="27432" bIns="27432" anchor="t">
            <a:spAutoFit/>
          </a:bodyPr>
          <a:lstStyle/>
          <a:p>
            <a:pPr algn="l">
              <a:spcAft>
                <a:spcPts val="0"/>
              </a:spcAft>
            </a:pPr>
            <a:r>
              <a:rPr sz="950" b="1">
                <a:solidFill>
                  <a:srgbClr val="6D3FD2"/>
                </a:solidFill>
                <a:latin typeface="Arial"/>
              </a:rPr>
              <a:t>TITLE / DESIGNATION</a:t>
            </a:r>
          </a:p>
        </p:txBody>
      </p:sp>
      <p:sp>
        <p:nvSpPr>
          <p:cNvPr id="22" name="TextBox 21"/>
          <p:cNvSpPr txBox="1"/>
          <p:nvPr/>
        </p:nvSpPr>
        <p:spPr>
          <a:xfrm>
            <a:off x="6720840" y="2496312"/>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
        <p:nvSpPr>
          <p:cNvPr id="23" name="Rounded Rectangle 22"/>
          <p:cNvSpPr/>
          <p:nvPr/>
        </p:nvSpPr>
        <p:spPr>
          <a:xfrm>
            <a:off x="4334256" y="3108960"/>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34256" y="3108960"/>
            <a:ext cx="82296" cy="57607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200400"/>
            <a:ext cx="2331720" cy="201168"/>
          </a:xfrm>
          <a:prstGeom prst="rect">
            <a:avLst/>
          </a:prstGeom>
          <a:noFill/>
        </p:spPr>
        <p:txBody>
          <a:bodyPr wrap="square" lIns="27432" rIns="27432" tIns="27432" bIns="27432" anchor="t">
            <a:spAutoFit/>
          </a:bodyPr>
          <a:lstStyle/>
          <a:p>
            <a:pPr algn="l">
              <a:spcAft>
                <a:spcPts val="0"/>
              </a:spcAft>
            </a:pPr>
            <a:r>
              <a:rPr sz="950" b="1">
                <a:solidFill>
                  <a:srgbClr val="108A73"/>
                </a:solidFill>
                <a:latin typeface="Arial"/>
              </a:rPr>
              <a:t>QUALIFICATIONS</a:t>
            </a:r>
          </a:p>
        </p:txBody>
      </p:sp>
      <p:sp>
        <p:nvSpPr>
          <p:cNvPr id="26" name="TextBox 25"/>
          <p:cNvSpPr txBox="1"/>
          <p:nvPr/>
        </p:nvSpPr>
        <p:spPr>
          <a:xfrm>
            <a:off x="6720840" y="3200400"/>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
        <p:nvSpPr>
          <p:cNvPr id="27" name="Rounded Rectangle 26"/>
          <p:cNvSpPr/>
          <p:nvPr/>
        </p:nvSpPr>
        <p:spPr>
          <a:xfrm>
            <a:off x="4334256" y="3813048"/>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34256" y="3813048"/>
            <a:ext cx="82296" cy="57607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3904487"/>
            <a:ext cx="2331720" cy="201168"/>
          </a:xfrm>
          <a:prstGeom prst="rect">
            <a:avLst/>
          </a:prstGeom>
          <a:noFill/>
        </p:spPr>
        <p:txBody>
          <a:bodyPr wrap="square" lIns="27432" rIns="27432" tIns="27432" bIns="27432" anchor="t">
            <a:spAutoFit/>
          </a:bodyPr>
          <a:lstStyle/>
          <a:p>
            <a:pPr algn="l">
              <a:spcAft>
                <a:spcPts val="0"/>
              </a:spcAft>
            </a:pPr>
            <a:r>
              <a:rPr sz="950" b="1">
                <a:solidFill>
                  <a:srgbClr val="16845B"/>
                </a:solidFill>
                <a:latin typeface="Arial"/>
              </a:rPr>
              <a:t>AREAS OF EXPERTISE</a:t>
            </a:r>
          </a:p>
        </p:txBody>
      </p:sp>
      <p:sp>
        <p:nvSpPr>
          <p:cNvPr id="30" name="TextBox 29"/>
          <p:cNvSpPr txBox="1"/>
          <p:nvPr/>
        </p:nvSpPr>
        <p:spPr>
          <a:xfrm>
            <a:off x="6720840" y="3904487"/>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
        <p:nvSpPr>
          <p:cNvPr id="31" name="Rounded Rectangle 30"/>
          <p:cNvSpPr/>
          <p:nvPr/>
        </p:nvSpPr>
        <p:spPr>
          <a:xfrm>
            <a:off x="4334256" y="4517136"/>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34256" y="4517136"/>
            <a:ext cx="82296" cy="57607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4608576"/>
            <a:ext cx="2331720" cy="201168"/>
          </a:xfrm>
          <a:prstGeom prst="rect">
            <a:avLst/>
          </a:prstGeom>
          <a:noFill/>
        </p:spPr>
        <p:txBody>
          <a:bodyPr wrap="square" lIns="27432" rIns="27432" tIns="27432" bIns="27432" anchor="t">
            <a:spAutoFit/>
          </a:bodyPr>
          <a:lstStyle/>
          <a:p>
            <a:pPr algn="l">
              <a:spcAft>
                <a:spcPts val="0"/>
              </a:spcAft>
            </a:pPr>
            <a:r>
              <a:rPr sz="950" b="1">
                <a:solidFill>
                  <a:srgbClr val="C77600"/>
                </a:solidFill>
                <a:latin typeface="Arial"/>
              </a:rPr>
              <a:t>TRAINING &amp; INDUSTRY EXPERIENCE</a:t>
            </a:r>
          </a:p>
        </p:txBody>
      </p:sp>
      <p:sp>
        <p:nvSpPr>
          <p:cNvPr id="34" name="TextBox 33"/>
          <p:cNvSpPr txBox="1"/>
          <p:nvPr/>
        </p:nvSpPr>
        <p:spPr>
          <a:xfrm>
            <a:off x="6720840" y="4608576"/>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
        <p:nvSpPr>
          <p:cNvPr id="35" name="Rounded Rectangle 34"/>
          <p:cNvSpPr/>
          <p:nvPr/>
        </p:nvSpPr>
        <p:spPr>
          <a:xfrm>
            <a:off x="4334256" y="5221224"/>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34256" y="5221224"/>
            <a:ext cx="82296" cy="57607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5312664"/>
            <a:ext cx="2331720" cy="201168"/>
          </a:xfrm>
          <a:prstGeom prst="rect">
            <a:avLst/>
          </a:prstGeom>
          <a:noFill/>
        </p:spPr>
        <p:txBody>
          <a:bodyPr wrap="square" lIns="27432" rIns="27432" tIns="27432" bIns="27432" anchor="t">
            <a:spAutoFit/>
          </a:bodyPr>
          <a:lstStyle/>
          <a:p>
            <a:pPr algn="l">
              <a:spcAft>
                <a:spcPts val="0"/>
              </a:spcAft>
            </a:pPr>
            <a:r>
              <a:rPr sz="950" b="1">
                <a:solidFill>
                  <a:srgbClr val="C2413A"/>
                </a:solidFill>
                <a:latin typeface="Arial"/>
              </a:rPr>
              <a:t>CONTACT</a:t>
            </a:r>
          </a:p>
        </p:txBody>
      </p:sp>
      <p:sp>
        <p:nvSpPr>
          <p:cNvPr id="38" name="TextBox 37"/>
          <p:cNvSpPr txBox="1"/>
          <p:nvPr/>
        </p:nvSpPr>
        <p:spPr>
          <a:xfrm>
            <a:off x="6720840" y="5312664"/>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________________________</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COURSE ADMINISTRATION</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About the Trainer</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a:t>
            </a:r>
          </a:p>
        </p:txBody>
      </p:sp>
      <p:sp>
        <p:nvSpPr>
          <p:cNvPr id="10" name="Rounded Rectangle 9"/>
          <p:cNvSpPr/>
          <p:nvPr/>
        </p:nvSpPr>
        <p:spPr>
          <a:xfrm>
            <a:off x="658368" y="1700784"/>
            <a:ext cx="3401568" cy="42062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81912" y="2240280"/>
            <a:ext cx="1554480" cy="155448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81912" y="2642616"/>
            <a:ext cx="1554480" cy="411480"/>
          </a:xfrm>
          <a:prstGeom prst="rect">
            <a:avLst/>
          </a:prstGeom>
          <a:noFill/>
        </p:spPr>
        <p:txBody>
          <a:bodyPr wrap="square" lIns="27432" rIns="27432" tIns="27432" bIns="27432" anchor="t">
            <a:spAutoFit/>
          </a:bodyPr>
          <a:lstStyle/>
          <a:p>
            <a:pPr algn="ctr">
              <a:spcAft>
                <a:spcPts val="0"/>
              </a:spcAft>
            </a:pPr>
            <a:r>
              <a:rPr sz="3400" b="1">
                <a:solidFill>
                  <a:srgbClr val="FFFFFF"/>
                </a:solidFill>
                <a:latin typeface="Arial"/>
              </a:rPr>
              <a:t>AA</a:t>
            </a:r>
          </a:p>
        </p:txBody>
      </p:sp>
      <p:sp>
        <p:nvSpPr>
          <p:cNvPr id="13" name="TextBox 12"/>
          <p:cNvSpPr txBox="1"/>
          <p:nvPr/>
        </p:nvSpPr>
        <p:spPr>
          <a:xfrm>
            <a:off x="896112" y="4160520"/>
            <a:ext cx="2926080" cy="411480"/>
          </a:xfrm>
          <a:prstGeom prst="rect">
            <a:avLst/>
          </a:prstGeom>
          <a:noFill/>
        </p:spPr>
        <p:txBody>
          <a:bodyPr wrap="square" lIns="27432" rIns="27432" tIns="27432" bIns="27432" anchor="t">
            <a:spAutoFit/>
          </a:bodyPr>
          <a:lstStyle/>
          <a:p>
            <a:pPr algn="ctr">
              <a:spcAft>
                <a:spcPts val="0"/>
              </a:spcAft>
            </a:pPr>
            <a:r>
              <a:rPr sz="1800" b="1">
                <a:solidFill>
                  <a:srgbClr val="161B26"/>
                </a:solidFill>
                <a:latin typeface="Arial"/>
              </a:rPr>
              <a:t>Dr. Alfred Ang</a:t>
            </a:r>
          </a:p>
        </p:txBody>
      </p:sp>
      <p:sp>
        <p:nvSpPr>
          <p:cNvPr id="14" name="TextBox 13"/>
          <p:cNvSpPr txBox="1"/>
          <p:nvPr/>
        </p:nvSpPr>
        <p:spPr>
          <a:xfrm>
            <a:off x="896112" y="4736592"/>
            <a:ext cx="2926080" cy="731520"/>
          </a:xfrm>
          <a:prstGeom prst="rect">
            <a:avLst/>
          </a:prstGeom>
          <a:noFill/>
        </p:spPr>
        <p:txBody>
          <a:bodyPr wrap="square" lIns="27432" rIns="27432" tIns="27432" bIns="27432" anchor="t">
            <a:spAutoFit/>
          </a:bodyPr>
          <a:lstStyle/>
          <a:p>
            <a:pPr algn="ctr">
              <a:spcAft>
                <a:spcPts val="0"/>
              </a:spcAft>
            </a:pPr>
            <a:r>
              <a:rPr sz="1100" b="0">
                <a:solidFill>
                  <a:srgbClr val="5B6372"/>
                </a:solidFill>
                <a:latin typeface="Arial"/>
              </a:rPr>
              <a:t>Principal Trainer · software and AI-enabled development</a:t>
            </a:r>
          </a:p>
        </p:txBody>
      </p:sp>
      <p:sp>
        <p:nvSpPr>
          <p:cNvPr id="15" name="Rounded Rectangle 14"/>
          <p:cNvSpPr/>
          <p:nvPr/>
        </p:nvSpPr>
        <p:spPr>
          <a:xfrm>
            <a:off x="4334256" y="1700784"/>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4256" y="1700784"/>
            <a:ext cx="82296" cy="5760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792224"/>
            <a:ext cx="2331720" cy="201168"/>
          </a:xfrm>
          <a:prstGeom prst="rect">
            <a:avLst/>
          </a:prstGeom>
          <a:noFill/>
        </p:spPr>
        <p:txBody>
          <a:bodyPr wrap="square" lIns="27432" rIns="27432" tIns="27432" bIns="27432" anchor="t">
            <a:spAutoFit/>
          </a:bodyPr>
          <a:lstStyle/>
          <a:p>
            <a:pPr algn="l">
              <a:spcAft>
                <a:spcPts val="0"/>
              </a:spcAft>
            </a:pPr>
            <a:r>
              <a:rPr sz="950" b="1">
                <a:solidFill>
                  <a:srgbClr val="1F6FEB"/>
                </a:solidFill>
                <a:latin typeface="Arial"/>
              </a:rPr>
              <a:t>NAME</a:t>
            </a:r>
          </a:p>
        </p:txBody>
      </p:sp>
      <p:sp>
        <p:nvSpPr>
          <p:cNvPr id="18" name="TextBox 17"/>
          <p:cNvSpPr txBox="1"/>
          <p:nvPr/>
        </p:nvSpPr>
        <p:spPr>
          <a:xfrm>
            <a:off x="6720840" y="1792224"/>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Dr. Alfred Ang</a:t>
            </a:r>
          </a:p>
        </p:txBody>
      </p:sp>
      <p:sp>
        <p:nvSpPr>
          <p:cNvPr id="19" name="Rounded Rectangle 18"/>
          <p:cNvSpPr/>
          <p:nvPr/>
        </p:nvSpPr>
        <p:spPr>
          <a:xfrm>
            <a:off x="4334256" y="2404872"/>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34256" y="2404872"/>
            <a:ext cx="82296" cy="57607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2496312"/>
            <a:ext cx="2331720" cy="201168"/>
          </a:xfrm>
          <a:prstGeom prst="rect">
            <a:avLst/>
          </a:prstGeom>
          <a:noFill/>
        </p:spPr>
        <p:txBody>
          <a:bodyPr wrap="square" lIns="27432" rIns="27432" tIns="27432" bIns="27432" anchor="t">
            <a:spAutoFit/>
          </a:bodyPr>
          <a:lstStyle/>
          <a:p>
            <a:pPr algn="l">
              <a:spcAft>
                <a:spcPts val="0"/>
              </a:spcAft>
            </a:pPr>
            <a:r>
              <a:rPr sz="950" b="1">
                <a:solidFill>
                  <a:srgbClr val="6D3FD2"/>
                </a:solidFill>
                <a:latin typeface="Arial"/>
              </a:rPr>
              <a:t>TITLE / DESIGNATION</a:t>
            </a:r>
          </a:p>
        </p:txBody>
      </p:sp>
      <p:sp>
        <p:nvSpPr>
          <p:cNvPr id="22" name="TextBox 21"/>
          <p:cNvSpPr txBox="1"/>
          <p:nvPr/>
        </p:nvSpPr>
        <p:spPr>
          <a:xfrm>
            <a:off x="6720840" y="2496312"/>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Principal Trainer</a:t>
            </a:r>
          </a:p>
        </p:txBody>
      </p:sp>
      <p:sp>
        <p:nvSpPr>
          <p:cNvPr id="23" name="Rounded Rectangle 22"/>
          <p:cNvSpPr/>
          <p:nvPr/>
        </p:nvSpPr>
        <p:spPr>
          <a:xfrm>
            <a:off x="4334256" y="3108960"/>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34256" y="3108960"/>
            <a:ext cx="82296" cy="57607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200400"/>
            <a:ext cx="2331720" cy="201168"/>
          </a:xfrm>
          <a:prstGeom prst="rect">
            <a:avLst/>
          </a:prstGeom>
          <a:noFill/>
        </p:spPr>
        <p:txBody>
          <a:bodyPr wrap="square" lIns="27432" rIns="27432" tIns="27432" bIns="27432" anchor="t">
            <a:spAutoFit/>
          </a:bodyPr>
          <a:lstStyle/>
          <a:p>
            <a:pPr algn="l">
              <a:spcAft>
                <a:spcPts val="0"/>
              </a:spcAft>
            </a:pPr>
            <a:r>
              <a:rPr sz="950" b="1">
                <a:solidFill>
                  <a:srgbClr val="108A73"/>
                </a:solidFill>
                <a:latin typeface="Arial"/>
              </a:rPr>
              <a:t>QUALIFICATIONS</a:t>
            </a:r>
          </a:p>
        </p:txBody>
      </p:sp>
      <p:sp>
        <p:nvSpPr>
          <p:cNvPr id="26" name="TextBox 25"/>
          <p:cNvSpPr txBox="1"/>
          <p:nvPr/>
        </p:nvSpPr>
        <p:spPr>
          <a:xfrm>
            <a:off x="6720840" y="3200400"/>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Doctorate · industry certifications</a:t>
            </a:r>
          </a:p>
        </p:txBody>
      </p:sp>
      <p:sp>
        <p:nvSpPr>
          <p:cNvPr id="27" name="Rounded Rectangle 26"/>
          <p:cNvSpPr/>
          <p:nvPr/>
        </p:nvSpPr>
        <p:spPr>
          <a:xfrm>
            <a:off x="4334256" y="3813048"/>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34256" y="3813048"/>
            <a:ext cx="82296" cy="57607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3904487"/>
            <a:ext cx="2331720" cy="201168"/>
          </a:xfrm>
          <a:prstGeom prst="rect">
            <a:avLst/>
          </a:prstGeom>
          <a:noFill/>
        </p:spPr>
        <p:txBody>
          <a:bodyPr wrap="square" lIns="27432" rIns="27432" tIns="27432" bIns="27432" anchor="t">
            <a:spAutoFit/>
          </a:bodyPr>
          <a:lstStyle/>
          <a:p>
            <a:pPr algn="l">
              <a:spcAft>
                <a:spcPts val="0"/>
              </a:spcAft>
            </a:pPr>
            <a:r>
              <a:rPr sz="950" b="1">
                <a:solidFill>
                  <a:srgbClr val="16845B"/>
                </a:solidFill>
                <a:latin typeface="Arial"/>
              </a:rPr>
              <a:t>AREAS OF EXPERTISE</a:t>
            </a:r>
          </a:p>
        </p:txBody>
      </p:sp>
      <p:sp>
        <p:nvSpPr>
          <p:cNvPr id="30" name="TextBox 29"/>
          <p:cNvSpPr txBox="1"/>
          <p:nvPr/>
        </p:nvSpPr>
        <p:spPr>
          <a:xfrm>
            <a:off x="6720840" y="3904487"/>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ASP.NET · software design · AI coding</a:t>
            </a:r>
          </a:p>
        </p:txBody>
      </p:sp>
      <p:sp>
        <p:nvSpPr>
          <p:cNvPr id="31" name="Rounded Rectangle 30"/>
          <p:cNvSpPr/>
          <p:nvPr/>
        </p:nvSpPr>
        <p:spPr>
          <a:xfrm>
            <a:off x="4334256" y="4517136"/>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34256" y="4517136"/>
            <a:ext cx="82296" cy="57607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4608576"/>
            <a:ext cx="2331720" cy="201168"/>
          </a:xfrm>
          <a:prstGeom prst="rect">
            <a:avLst/>
          </a:prstGeom>
          <a:noFill/>
        </p:spPr>
        <p:txBody>
          <a:bodyPr wrap="square" lIns="27432" rIns="27432" tIns="27432" bIns="27432" anchor="t">
            <a:spAutoFit/>
          </a:bodyPr>
          <a:lstStyle/>
          <a:p>
            <a:pPr algn="l">
              <a:spcAft>
                <a:spcPts val="0"/>
              </a:spcAft>
            </a:pPr>
            <a:r>
              <a:rPr sz="950" b="1">
                <a:solidFill>
                  <a:srgbClr val="C77600"/>
                </a:solidFill>
                <a:latin typeface="Arial"/>
              </a:rPr>
              <a:t>TRAINING &amp; INDUSTRY EXPERIENCE</a:t>
            </a:r>
          </a:p>
        </p:txBody>
      </p:sp>
      <p:sp>
        <p:nvSpPr>
          <p:cNvPr id="34" name="TextBox 33"/>
          <p:cNvSpPr txBox="1"/>
          <p:nvPr/>
        </p:nvSpPr>
        <p:spPr>
          <a:xfrm>
            <a:off x="6720840" y="4608576"/>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Adult education and industry practice</a:t>
            </a:r>
          </a:p>
        </p:txBody>
      </p:sp>
      <p:sp>
        <p:nvSpPr>
          <p:cNvPr id="35" name="Rounded Rectangle 34"/>
          <p:cNvSpPr/>
          <p:nvPr/>
        </p:nvSpPr>
        <p:spPr>
          <a:xfrm>
            <a:off x="4334256" y="5221224"/>
            <a:ext cx="7159752" cy="5760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34256" y="5221224"/>
            <a:ext cx="82296" cy="57607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5312664"/>
            <a:ext cx="2331720" cy="201168"/>
          </a:xfrm>
          <a:prstGeom prst="rect">
            <a:avLst/>
          </a:prstGeom>
          <a:noFill/>
        </p:spPr>
        <p:txBody>
          <a:bodyPr wrap="square" lIns="27432" rIns="27432" tIns="27432" bIns="27432" anchor="t">
            <a:spAutoFit/>
          </a:bodyPr>
          <a:lstStyle/>
          <a:p>
            <a:pPr algn="l">
              <a:spcAft>
                <a:spcPts val="0"/>
              </a:spcAft>
            </a:pPr>
            <a:r>
              <a:rPr sz="950" b="1">
                <a:solidFill>
                  <a:srgbClr val="C2413A"/>
                </a:solidFill>
                <a:latin typeface="Arial"/>
              </a:rPr>
              <a:t>CONTACT</a:t>
            </a:r>
          </a:p>
        </p:txBody>
      </p:sp>
      <p:sp>
        <p:nvSpPr>
          <p:cNvPr id="38" name="TextBox 37"/>
          <p:cNvSpPr txBox="1"/>
          <p:nvPr/>
        </p:nvSpPr>
        <p:spPr>
          <a:xfrm>
            <a:off x="6720840" y="5312664"/>
            <a:ext cx="4407408" cy="283464"/>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enquiry@tertiaryinfotech.com</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LEARNER INTRODUCTION</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Let's Know Each Other</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Name + role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Share your current work context.</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Web experience</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one app or API you have used.</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ASP.NET baseline</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Share your .NET/C# exposure.</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Learning goal</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one CRM outcome you want to build.</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LEARNING ENVIRONMENT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Ground Rules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Participate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Ask, explain and test actively.</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Respect</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One conversation; challenge ideas, not people.</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Be punctual</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Return from breaks on time.</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Protect data</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only provided mock CRM records.</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Verify AI</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Inspect every generated diff and dependency.</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Attend</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AM, PM and assessment attendance.</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COURSE ADMINISTRATION · 09:00–18:00</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Lesson Plan · Day 1 · Part 1/2</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a:t>
            </a:r>
          </a:p>
        </p:txBody>
      </p:sp>
      <p:sp>
        <p:nvSpPr>
          <p:cNvPr id="10" name="Rectangle 9"/>
          <p:cNvSpPr/>
          <p:nvPr/>
        </p:nvSpPr>
        <p:spPr>
          <a:xfrm>
            <a:off x="658368" y="1737360"/>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48256" y="1737360"/>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8" y="1737360"/>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856231"/>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09:00–09:30</a:t>
            </a:r>
          </a:p>
        </p:txBody>
      </p:sp>
      <p:sp>
        <p:nvSpPr>
          <p:cNvPr id="14" name="TextBox 13"/>
          <p:cNvSpPr txBox="1"/>
          <p:nvPr/>
        </p:nvSpPr>
        <p:spPr>
          <a:xfrm>
            <a:off x="2194560" y="182880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Administration, attendance, introductions and assessment briefing</a:t>
            </a:r>
          </a:p>
        </p:txBody>
      </p:sp>
      <p:sp>
        <p:nvSpPr>
          <p:cNvPr id="15" name="TextBox 14"/>
          <p:cNvSpPr txBox="1"/>
          <p:nvPr/>
        </p:nvSpPr>
        <p:spPr>
          <a:xfrm>
            <a:off x="8759952" y="182880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Facilitation</a:t>
            </a:r>
          </a:p>
        </p:txBody>
      </p:sp>
      <p:sp>
        <p:nvSpPr>
          <p:cNvPr id="16" name="Rectangle 15"/>
          <p:cNvSpPr/>
          <p:nvPr/>
        </p:nvSpPr>
        <p:spPr>
          <a:xfrm>
            <a:off x="658368" y="2304288"/>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6" y="2304288"/>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13648" y="2304288"/>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42316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09:30–10:45</a:t>
            </a:r>
          </a:p>
        </p:txBody>
      </p:sp>
      <p:sp>
        <p:nvSpPr>
          <p:cNvPr id="20" name="TextBox 19"/>
          <p:cNvSpPr txBox="1"/>
          <p:nvPr/>
        </p:nvSpPr>
        <p:spPr>
          <a:xfrm>
            <a:off x="2194560" y="239572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1 — ASP.NET Core runtime and component design</a:t>
            </a:r>
          </a:p>
        </p:txBody>
      </p:sp>
      <p:sp>
        <p:nvSpPr>
          <p:cNvPr id="21" name="TextBox 20"/>
          <p:cNvSpPr txBox="1"/>
          <p:nvPr/>
        </p:nvSpPr>
        <p:spPr>
          <a:xfrm>
            <a:off x="8759952" y="239572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demonstration, questioning</a:t>
            </a:r>
          </a:p>
        </p:txBody>
      </p:sp>
      <p:sp>
        <p:nvSpPr>
          <p:cNvPr id="22" name="Rectangle 21"/>
          <p:cNvSpPr/>
          <p:nvPr/>
        </p:nvSpPr>
        <p:spPr>
          <a:xfrm>
            <a:off x="658368" y="2871216"/>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48256" y="2871216"/>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13648" y="2871216"/>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990088"/>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10:45–10:55</a:t>
            </a:r>
          </a:p>
        </p:txBody>
      </p:sp>
      <p:sp>
        <p:nvSpPr>
          <p:cNvPr id="26" name="TextBox 25"/>
          <p:cNvSpPr txBox="1"/>
          <p:nvPr/>
        </p:nvSpPr>
        <p:spPr>
          <a:xfrm>
            <a:off x="2194560" y="2962656"/>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Morning break</a:t>
            </a:r>
          </a:p>
        </p:txBody>
      </p:sp>
      <p:sp>
        <p:nvSpPr>
          <p:cNvPr id="27" name="TextBox 26"/>
          <p:cNvSpPr txBox="1"/>
          <p:nvPr/>
        </p:nvSpPr>
        <p:spPr>
          <a:xfrm>
            <a:off x="8759952" y="2962656"/>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28" name="Rectangle 27"/>
          <p:cNvSpPr/>
          <p:nvPr/>
        </p:nvSpPr>
        <p:spPr>
          <a:xfrm>
            <a:off x="658368" y="3438144"/>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48256" y="3438144"/>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13648" y="3438144"/>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557016"/>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10:55–12:30</a:t>
            </a:r>
          </a:p>
        </p:txBody>
      </p:sp>
      <p:sp>
        <p:nvSpPr>
          <p:cNvPr id="32" name="TextBox 31"/>
          <p:cNvSpPr txBox="1"/>
          <p:nvPr/>
        </p:nvSpPr>
        <p:spPr>
          <a:xfrm>
            <a:off x="2194560" y="3529584"/>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Activities 1–2 — requirements, scaffold and controlled vibe change</a:t>
            </a:r>
          </a:p>
        </p:txBody>
      </p:sp>
      <p:sp>
        <p:nvSpPr>
          <p:cNvPr id="33" name="TextBox 32"/>
          <p:cNvSpPr txBox="1"/>
          <p:nvPr/>
        </p:nvSpPr>
        <p:spPr>
          <a:xfrm>
            <a:off x="8759952" y="3529584"/>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34" name="Rectangle 33"/>
          <p:cNvSpPr/>
          <p:nvPr/>
        </p:nvSpPr>
        <p:spPr>
          <a:xfrm>
            <a:off x="658368" y="4005072"/>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48256" y="4005072"/>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13648" y="4005072"/>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4123944"/>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12:30–13:30</a:t>
            </a:r>
          </a:p>
        </p:txBody>
      </p:sp>
      <p:sp>
        <p:nvSpPr>
          <p:cNvPr id="38" name="TextBox 37"/>
          <p:cNvSpPr txBox="1"/>
          <p:nvPr/>
        </p:nvSpPr>
        <p:spPr>
          <a:xfrm>
            <a:off x="2194560" y="4096511"/>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Lunch</a:t>
            </a:r>
          </a:p>
        </p:txBody>
      </p:sp>
      <p:sp>
        <p:nvSpPr>
          <p:cNvPr id="39" name="TextBox 38"/>
          <p:cNvSpPr txBox="1"/>
          <p:nvPr/>
        </p:nvSpPr>
        <p:spPr>
          <a:xfrm>
            <a:off x="8759952" y="4096511"/>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40" name="Rectangle 39"/>
          <p:cNvSpPr/>
          <p:nvPr/>
        </p:nvSpPr>
        <p:spPr>
          <a:xfrm>
            <a:off x="658368" y="4572000"/>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48256" y="4572000"/>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13648" y="4572000"/>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4690872"/>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13:30–14:50</a:t>
            </a:r>
          </a:p>
        </p:txBody>
      </p:sp>
      <p:sp>
        <p:nvSpPr>
          <p:cNvPr id="44" name="TextBox 43"/>
          <p:cNvSpPr txBox="1"/>
          <p:nvPr/>
        </p:nvSpPr>
        <p:spPr>
          <a:xfrm>
            <a:off x="2194560" y="466344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2 — accessible UI and organisational practice</a:t>
            </a:r>
          </a:p>
        </p:txBody>
      </p:sp>
      <p:sp>
        <p:nvSpPr>
          <p:cNvPr id="45" name="TextBox 44"/>
          <p:cNvSpPr txBox="1"/>
          <p:nvPr/>
        </p:nvSpPr>
        <p:spPr>
          <a:xfrm>
            <a:off x="8759952" y="466344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demonstration, questioning</a:t>
            </a:r>
          </a:p>
        </p:txBody>
      </p:sp>
      <p:sp>
        <p:nvSpPr>
          <p:cNvPr id="46" name="Rectangle 45"/>
          <p:cNvSpPr/>
          <p:nvPr/>
        </p:nvSpPr>
        <p:spPr>
          <a:xfrm>
            <a:off x="658368" y="5138928"/>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48256" y="5138928"/>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3648" y="5138928"/>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6384" y="525780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14:50–15:40</a:t>
            </a:r>
          </a:p>
        </p:txBody>
      </p:sp>
      <p:sp>
        <p:nvSpPr>
          <p:cNvPr id="50" name="TextBox 49"/>
          <p:cNvSpPr txBox="1"/>
          <p:nvPr/>
        </p:nvSpPr>
        <p:spPr>
          <a:xfrm>
            <a:off x="2194560" y="523036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Activities 3–4 — accessible shell and audit</a:t>
            </a:r>
          </a:p>
        </p:txBody>
      </p:sp>
      <p:sp>
        <p:nvSpPr>
          <p:cNvPr id="51" name="TextBox 50"/>
          <p:cNvSpPr txBox="1"/>
          <p:nvPr/>
        </p:nvSpPr>
        <p:spPr>
          <a:xfrm>
            <a:off x="8759952" y="523036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52" name="TextBox 51"/>
          <p:cNvSpPr txBox="1"/>
          <p:nvPr/>
        </p:nvSpPr>
        <p:spPr>
          <a:xfrm>
            <a:off x="658368" y="5925312"/>
            <a:ext cx="10698480" cy="201168"/>
          </a:xfrm>
          <a:prstGeom prst="rect">
            <a:avLst/>
          </a:prstGeom>
          <a:noFill/>
        </p:spPr>
        <p:txBody>
          <a:bodyPr wrap="square" lIns="27432" rIns="27432" tIns="27432" bIns="27432" anchor="t">
            <a:spAutoFit/>
          </a:bodyPr>
          <a:lstStyle/>
          <a:p>
            <a:pPr algn="l">
              <a:spcAft>
                <a:spcPts val="0"/>
              </a:spcAft>
            </a:pPr>
            <a:r>
              <a:rPr sz="1000" b="0">
                <a:solidFill>
                  <a:srgbClr val="5B6372"/>
                </a:solidFill>
                <a:latin typeface="Arial"/>
              </a:rPr>
              <a:t>Continued on the next schedule slide.</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COURSE ADMINISTRATION · 09:00–18:00</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Lesson Plan · Day 1 · Part 2/2</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a:t>
            </a:r>
          </a:p>
        </p:txBody>
      </p:sp>
      <p:sp>
        <p:nvSpPr>
          <p:cNvPr id="10" name="Rectangle 9"/>
          <p:cNvSpPr/>
          <p:nvPr/>
        </p:nvSpPr>
        <p:spPr>
          <a:xfrm>
            <a:off x="658368" y="1737360"/>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48256" y="1737360"/>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8" y="1737360"/>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856231"/>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15:40–15:50</a:t>
            </a:r>
          </a:p>
        </p:txBody>
      </p:sp>
      <p:sp>
        <p:nvSpPr>
          <p:cNvPr id="14" name="TextBox 13"/>
          <p:cNvSpPr txBox="1"/>
          <p:nvPr/>
        </p:nvSpPr>
        <p:spPr>
          <a:xfrm>
            <a:off x="2194560" y="182880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Afternoon break</a:t>
            </a:r>
          </a:p>
        </p:txBody>
      </p:sp>
      <p:sp>
        <p:nvSpPr>
          <p:cNvPr id="15" name="TextBox 14"/>
          <p:cNvSpPr txBox="1"/>
          <p:nvPr/>
        </p:nvSpPr>
        <p:spPr>
          <a:xfrm>
            <a:off x="8759952" y="182880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16" name="Rectangle 15"/>
          <p:cNvSpPr/>
          <p:nvPr/>
        </p:nvSpPr>
        <p:spPr>
          <a:xfrm>
            <a:off x="658368" y="2304288"/>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6" y="2304288"/>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13648" y="2304288"/>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42316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15:50–17:00</a:t>
            </a:r>
          </a:p>
        </p:txBody>
      </p:sp>
      <p:sp>
        <p:nvSpPr>
          <p:cNvPr id="20" name="TextBox 19"/>
          <p:cNvSpPr txBox="1"/>
          <p:nvPr/>
        </p:nvSpPr>
        <p:spPr>
          <a:xfrm>
            <a:off x="2194560" y="239572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3 — Razor Pages controls, binding and persistence</a:t>
            </a:r>
          </a:p>
        </p:txBody>
      </p:sp>
      <p:sp>
        <p:nvSpPr>
          <p:cNvPr id="21" name="TextBox 20"/>
          <p:cNvSpPr txBox="1"/>
          <p:nvPr/>
        </p:nvSpPr>
        <p:spPr>
          <a:xfrm>
            <a:off x="8759952" y="239572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and demonstration</a:t>
            </a:r>
          </a:p>
        </p:txBody>
      </p:sp>
      <p:sp>
        <p:nvSpPr>
          <p:cNvPr id="22" name="Rectangle 21"/>
          <p:cNvSpPr/>
          <p:nvPr/>
        </p:nvSpPr>
        <p:spPr>
          <a:xfrm>
            <a:off x="658368" y="2871216"/>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48256" y="2871216"/>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13648" y="2871216"/>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990088"/>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17:00–17:50</a:t>
            </a:r>
          </a:p>
        </p:txBody>
      </p:sp>
      <p:sp>
        <p:nvSpPr>
          <p:cNvPr id="26" name="TextBox 25"/>
          <p:cNvSpPr txBox="1"/>
          <p:nvPr/>
        </p:nvSpPr>
        <p:spPr>
          <a:xfrm>
            <a:off x="2194560" y="2962656"/>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Activity 5 — create and list with Razor Pages</a:t>
            </a:r>
          </a:p>
        </p:txBody>
      </p:sp>
      <p:sp>
        <p:nvSpPr>
          <p:cNvPr id="27" name="TextBox 26"/>
          <p:cNvSpPr txBox="1"/>
          <p:nvPr/>
        </p:nvSpPr>
        <p:spPr>
          <a:xfrm>
            <a:off x="8759952" y="2962656"/>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28" name="Rectangle 27"/>
          <p:cNvSpPr/>
          <p:nvPr/>
        </p:nvSpPr>
        <p:spPr>
          <a:xfrm>
            <a:off x="658368" y="3438144"/>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48256" y="3438144"/>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13648" y="3438144"/>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557016"/>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17:50–18:00</a:t>
            </a:r>
          </a:p>
        </p:txBody>
      </p:sp>
      <p:sp>
        <p:nvSpPr>
          <p:cNvPr id="32" name="TextBox 31"/>
          <p:cNvSpPr txBox="1"/>
          <p:nvPr/>
        </p:nvSpPr>
        <p:spPr>
          <a:xfrm>
            <a:off x="2194560" y="3529584"/>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Day 1 recap and PM attendance</a:t>
            </a:r>
          </a:p>
        </p:txBody>
      </p:sp>
      <p:sp>
        <p:nvSpPr>
          <p:cNvPr id="33" name="TextBox 32"/>
          <p:cNvSpPr txBox="1"/>
          <p:nvPr/>
        </p:nvSpPr>
        <p:spPr>
          <a:xfrm>
            <a:off x="8759952" y="3529584"/>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Reflection</a:t>
            </a:r>
          </a:p>
        </p:txBody>
      </p:sp>
      <p:sp>
        <p:nvSpPr>
          <p:cNvPr id="34" name="TextBox 33"/>
          <p:cNvSpPr txBox="1"/>
          <p:nvPr/>
        </p:nvSpPr>
        <p:spPr>
          <a:xfrm>
            <a:off x="658368" y="5925312"/>
            <a:ext cx="10698480" cy="201168"/>
          </a:xfrm>
          <a:prstGeom prst="rect">
            <a:avLst/>
          </a:prstGeom>
          <a:noFill/>
        </p:spPr>
        <p:txBody>
          <a:bodyPr wrap="square" lIns="27432" rIns="27432" tIns="27432" bIns="27432" anchor="t">
            <a:spAutoFit/>
          </a:bodyPr>
          <a:lstStyle/>
          <a:p>
            <a:pPr algn="l">
              <a:spcAft>
                <a:spcPts val="0"/>
              </a:spcAft>
            </a:pPr>
            <a:r>
              <a:rPr sz="1000" b="0">
                <a:solidFill>
                  <a:srgbClr val="5B6372"/>
                </a:solidFill>
                <a:latin typeface="Arial"/>
              </a:rPr>
              <a:t>Tea breaks sit within facilitated time; lunch is excluded. Final assessment runs Day 2, 16:00–18:00.</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COURSE ADMINISTRATION · 09:00–18:00</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Lesson Plan · Day 2 · Part 1/2</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a:t>
            </a:r>
          </a:p>
        </p:txBody>
      </p:sp>
      <p:sp>
        <p:nvSpPr>
          <p:cNvPr id="10" name="Rectangle 9"/>
          <p:cNvSpPr/>
          <p:nvPr/>
        </p:nvSpPr>
        <p:spPr>
          <a:xfrm>
            <a:off x="658368" y="1737360"/>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48256" y="1737360"/>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8" y="1737360"/>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856231"/>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09:00–09:15</a:t>
            </a:r>
          </a:p>
        </p:txBody>
      </p:sp>
      <p:sp>
        <p:nvSpPr>
          <p:cNvPr id="14" name="TextBox 13"/>
          <p:cNvSpPr txBox="1"/>
          <p:nvPr/>
        </p:nvSpPr>
        <p:spPr>
          <a:xfrm>
            <a:off x="2194560" y="182880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Day 1 recap and AM attendance</a:t>
            </a:r>
          </a:p>
        </p:txBody>
      </p:sp>
      <p:sp>
        <p:nvSpPr>
          <p:cNvPr id="15" name="TextBox 14"/>
          <p:cNvSpPr txBox="1"/>
          <p:nvPr/>
        </p:nvSpPr>
        <p:spPr>
          <a:xfrm>
            <a:off x="8759952" y="182880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Review</a:t>
            </a:r>
          </a:p>
        </p:txBody>
      </p:sp>
      <p:sp>
        <p:nvSpPr>
          <p:cNvPr id="16" name="Rectangle 15"/>
          <p:cNvSpPr/>
          <p:nvPr/>
        </p:nvSpPr>
        <p:spPr>
          <a:xfrm>
            <a:off x="658368" y="2304288"/>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6" y="2304288"/>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13648" y="2304288"/>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42316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09:15–10:05</a:t>
            </a:r>
          </a:p>
        </p:txBody>
      </p:sp>
      <p:sp>
        <p:nvSpPr>
          <p:cNvPr id="20" name="TextBox 19"/>
          <p:cNvSpPr txBox="1"/>
          <p:nvPr/>
        </p:nvSpPr>
        <p:spPr>
          <a:xfrm>
            <a:off x="2194560" y="239572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3 — validation, Tag Helpers and antiforgery</a:t>
            </a:r>
          </a:p>
        </p:txBody>
      </p:sp>
      <p:sp>
        <p:nvSpPr>
          <p:cNvPr id="21" name="TextBox 20"/>
          <p:cNvSpPr txBox="1"/>
          <p:nvPr/>
        </p:nvSpPr>
        <p:spPr>
          <a:xfrm>
            <a:off x="8759952" y="239572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and demonstration</a:t>
            </a:r>
          </a:p>
        </p:txBody>
      </p:sp>
      <p:sp>
        <p:nvSpPr>
          <p:cNvPr id="22" name="Rectangle 21"/>
          <p:cNvSpPr/>
          <p:nvPr/>
        </p:nvSpPr>
        <p:spPr>
          <a:xfrm>
            <a:off x="658368" y="2871216"/>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48256" y="2871216"/>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13648" y="2871216"/>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990088"/>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10:05–10:55</a:t>
            </a:r>
          </a:p>
        </p:txBody>
      </p:sp>
      <p:sp>
        <p:nvSpPr>
          <p:cNvPr id="26" name="TextBox 25"/>
          <p:cNvSpPr txBox="1"/>
          <p:nvPr/>
        </p:nvSpPr>
        <p:spPr>
          <a:xfrm>
            <a:off x="2194560" y="2962656"/>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Activity 6 — validation and antiforgery</a:t>
            </a:r>
          </a:p>
        </p:txBody>
      </p:sp>
      <p:sp>
        <p:nvSpPr>
          <p:cNvPr id="27" name="TextBox 26"/>
          <p:cNvSpPr txBox="1"/>
          <p:nvPr/>
        </p:nvSpPr>
        <p:spPr>
          <a:xfrm>
            <a:off x="8759952" y="2962656"/>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28" name="Rectangle 27"/>
          <p:cNvSpPr/>
          <p:nvPr/>
        </p:nvSpPr>
        <p:spPr>
          <a:xfrm>
            <a:off x="658368" y="3438144"/>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48256" y="3438144"/>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13648" y="3438144"/>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557016"/>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10:55–11:05</a:t>
            </a:r>
          </a:p>
        </p:txBody>
      </p:sp>
      <p:sp>
        <p:nvSpPr>
          <p:cNvPr id="32" name="TextBox 31"/>
          <p:cNvSpPr txBox="1"/>
          <p:nvPr/>
        </p:nvSpPr>
        <p:spPr>
          <a:xfrm>
            <a:off x="2194560" y="3529584"/>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Morning break</a:t>
            </a:r>
          </a:p>
        </p:txBody>
      </p:sp>
      <p:sp>
        <p:nvSpPr>
          <p:cNvPr id="33" name="TextBox 32"/>
          <p:cNvSpPr txBox="1"/>
          <p:nvPr/>
        </p:nvSpPr>
        <p:spPr>
          <a:xfrm>
            <a:off x="8759952" y="3529584"/>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34" name="Rectangle 33"/>
          <p:cNvSpPr/>
          <p:nvPr/>
        </p:nvSpPr>
        <p:spPr>
          <a:xfrm>
            <a:off x="658368" y="4005072"/>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48256" y="4005072"/>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13648" y="4005072"/>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4123944"/>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11:05–12:10</a:t>
            </a:r>
          </a:p>
        </p:txBody>
      </p:sp>
      <p:sp>
        <p:nvSpPr>
          <p:cNvPr id="38" name="TextBox 37"/>
          <p:cNvSpPr txBox="1"/>
          <p:nvPr/>
        </p:nvSpPr>
        <p:spPr>
          <a:xfrm>
            <a:off x="2194560" y="4096511"/>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4 — controller APIs and HTTP contracts</a:t>
            </a:r>
          </a:p>
        </p:txBody>
      </p:sp>
      <p:sp>
        <p:nvSpPr>
          <p:cNvPr id="39" name="TextBox 38"/>
          <p:cNvSpPr txBox="1"/>
          <p:nvPr/>
        </p:nvSpPr>
        <p:spPr>
          <a:xfrm>
            <a:off x="8759952" y="4096511"/>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demonstration, questioning</a:t>
            </a:r>
          </a:p>
        </p:txBody>
      </p:sp>
      <p:sp>
        <p:nvSpPr>
          <p:cNvPr id="40" name="Rectangle 39"/>
          <p:cNvSpPr/>
          <p:nvPr/>
        </p:nvSpPr>
        <p:spPr>
          <a:xfrm>
            <a:off x="658368" y="4572000"/>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48256" y="4572000"/>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13648" y="4572000"/>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4690872"/>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12:10–13:00</a:t>
            </a:r>
          </a:p>
        </p:txBody>
      </p:sp>
      <p:sp>
        <p:nvSpPr>
          <p:cNvPr id="44" name="TextBox 43"/>
          <p:cNvSpPr txBox="1"/>
          <p:nvPr/>
        </p:nvSpPr>
        <p:spPr>
          <a:xfrm>
            <a:off x="2194560" y="466344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Activity 7 — controller API</a:t>
            </a:r>
          </a:p>
        </p:txBody>
      </p:sp>
      <p:sp>
        <p:nvSpPr>
          <p:cNvPr id="45" name="TextBox 44"/>
          <p:cNvSpPr txBox="1"/>
          <p:nvPr/>
        </p:nvSpPr>
        <p:spPr>
          <a:xfrm>
            <a:off x="8759952" y="466344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46" name="Rectangle 45"/>
          <p:cNvSpPr/>
          <p:nvPr/>
        </p:nvSpPr>
        <p:spPr>
          <a:xfrm>
            <a:off x="658368" y="5138928"/>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48256" y="5138928"/>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3648" y="5138928"/>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6384" y="525780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13:00–14:00</a:t>
            </a:r>
          </a:p>
        </p:txBody>
      </p:sp>
      <p:sp>
        <p:nvSpPr>
          <p:cNvPr id="50" name="TextBox 49"/>
          <p:cNvSpPr txBox="1"/>
          <p:nvPr/>
        </p:nvSpPr>
        <p:spPr>
          <a:xfrm>
            <a:off x="2194560" y="523036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Lunch</a:t>
            </a:r>
          </a:p>
        </p:txBody>
      </p:sp>
      <p:sp>
        <p:nvSpPr>
          <p:cNvPr id="51" name="TextBox 50"/>
          <p:cNvSpPr txBox="1"/>
          <p:nvPr/>
        </p:nvSpPr>
        <p:spPr>
          <a:xfrm>
            <a:off x="8759952" y="523036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52" name="TextBox 51"/>
          <p:cNvSpPr txBox="1"/>
          <p:nvPr/>
        </p:nvSpPr>
        <p:spPr>
          <a:xfrm>
            <a:off x="658368" y="5925312"/>
            <a:ext cx="10698480" cy="201168"/>
          </a:xfrm>
          <a:prstGeom prst="rect">
            <a:avLst/>
          </a:prstGeom>
          <a:noFill/>
        </p:spPr>
        <p:txBody>
          <a:bodyPr wrap="square" lIns="27432" rIns="27432" tIns="27432" bIns="27432" anchor="t">
            <a:spAutoFit/>
          </a:bodyPr>
          <a:lstStyle/>
          <a:p>
            <a:pPr algn="l">
              <a:spcAft>
                <a:spcPts val="0"/>
              </a:spcAft>
            </a:pPr>
            <a:r>
              <a:rPr sz="1000" b="0">
                <a:solidFill>
                  <a:srgbClr val="5B6372"/>
                </a:solidFill>
                <a:latin typeface="Arial"/>
              </a:rPr>
              <a:t>Continued on the next schedule slide.</a:t>
            </a:r>
          </a:p>
        </p:txBody>
      </p:sp>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COURSE ADMINISTRATION · 09:00–18:00</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Lesson Plan · Day 2 · Part 2/2</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a:t>
            </a:r>
          </a:p>
        </p:txBody>
      </p:sp>
      <p:sp>
        <p:nvSpPr>
          <p:cNvPr id="10" name="Rectangle 9"/>
          <p:cNvSpPr/>
          <p:nvPr/>
        </p:nvSpPr>
        <p:spPr>
          <a:xfrm>
            <a:off x="658368" y="1737360"/>
            <a:ext cx="1389888"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48256" y="1737360"/>
            <a:ext cx="6565392"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8" y="1737360"/>
            <a:ext cx="2880360" cy="56692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856231"/>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14:00–14:55</a:t>
            </a:r>
          </a:p>
        </p:txBody>
      </p:sp>
      <p:sp>
        <p:nvSpPr>
          <p:cNvPr id="14" name="TextBox 13"/>
          <p:cNvSpPr txBox="1"/>
          <p:nvPr/>
        </p:nvSpPr>
        <p:spPr>
          <a:xfrm>
            <a:off x="2194560" y="1828800"/>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Activity 8 — SQLite, OpenAPI and integration tests</a:t>
            </a:r>
          </a:p>
        </p:txBody>
      </p:sp>
      <p:sp>
        <p:nvSpPr>
          <p:cNvPr id="15" name="TextBox 14"/>
          <p:cNvSpPr txBox="1"/>
          <p:nvPr/>
        </p:nvSpPr>
        <p:spPr>
          <a:xfrm>
            <a:off x="8759952" y="182880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Practical</a:t>
            </a:r>
          </a:p>
        </p:txBody>
      </p:sp>
      <p:sp>
        <p:nvSpPr>
          <p:cNvPr id="16" name="Rectangle 15"/>
          <p:cNvSpPr/>
          <p:nvPr/>
        </p:nvSpPr>
        <p:spPr>
          <a:xfrm>
            <a:off x="658368" y="2304288"/>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6" y="2304288"/>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13648" y="2304288"/>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423160"/>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14:55–15:35</a:t>
            </a:r>
          </a:p>
        </p:txBody>
      </p:sp>
      <p:sp>
        <p:nvSpPr>
          <p:cNvPr id="20" name="TextBox 19"/>
          <p:cNvSpPr txBox="1"/>
          <p:nvPr/>
        </p:nvSpPr>
        <p:spPr>
          <a:xfrm>
            <a:off x="2194560" y="2395728"/>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Topic 5 — hosting, Azure and design evidence</a:t>
            </a:r>
          </a:p>
        </p:txBody>
      </p:sp>
      <p:sp>
        <p:nvSpPr>
          <p:cNvPr id="21" name="TextBox 20"/>
          <p:cNvSpPr txBox="1"/>
          <p:nvPr/>
        </p:nvSpPr>
        <p:spPr>
          <a:xfrm>
            <a:off x="8759952" y="2395728"/>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Lecture and demonstration</a:t>
            </a:r>
          </a:p>
        </p:txBody>
      </p:sp>
      <p:sp>
        <p:nvSpPr>
          <p:cNvPr id="22" name="Rectangle 21"/>
          <p:cNvSpPr/>
          <p:nvPr/>
        </p:nvSpPr>
        <p:spPr>
          <a:xfrm>
            <a:off x="658368" y="2871216"/>
            <a:ext cx="1389888"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48256" y="2871216"/>
            <a:ext cx="6565392"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13648" y="2871216"/>
            <a:ext cx="2880360" cy="566928"/>
          </a:xfrm>
          <a:prstGeom prst="rect">
            <a:avLst/>
          </a:prstGeom>
          <a:solidFill>
            <a:srgbClr val="FFF4E5"/>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990088"/>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15:35–15:45</a:t>
            </a:r>
          </a:p>
        </p:txBody>
      </p:sp>
      <p:sp>
        <p:nvSpPr>
          <p:cNvPr id="26" name="TextBox 25"/>
          <p:cNvSpPr txBox="1"/>
          <p:nvPr/>
        </p:nvSpPr>
        <p:spPr>
          <a:xfrm>
            <a:off x="2194560" y="2962656"/>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Afternoon break</a:t>
            </a:r>
          </a:p>
        </p:txBody>
      </p:sp>
      <p:sp>
        <p:nvSpPr>
          <p:cNvPr id="27" name="TextBox 26"/>
          <p:cNvSpPr txBox="1"/>
          <p:nvPr/>
        </p:nvSpPr>
        <p:spPr>
          <a:xfrm>
            <a:off x="8759952" y="2962656"/>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Break</a:t>
            </a:r>
          </a:p>
        </p:txBody>
      </p:sp>
      <p:sp>
        <p:nvSpPr>
          <p:cNvPr id="28" name="Rectangle 27"/>
          <p:cNvSpPr/>
          <p:nvPr/>
        </p:nvSpPr>
        <p:spPr>
          <a:xfrm>
            <a:off x="658368" y="3438144"/>
            <a:ext cx="1389888"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48256" y="3438144"/>
            <a:ext cx="6565392"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13648" y="3438144"/>
            <a:ext cx="2880360" cy="56692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557016"/>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15:45–16:00</a:t>
            </a:r>
          </a:p>
        </p:txBody>
      </p:sp>
      <p:sp>
        <p:nvSpPr>
          <p:cNvPr id="32" name="TextBox 31"/>
          <p:cNvSpPr txBox="1"/>
          <p:nvPr/>
        </p:nvSpPr>
        <p:spPr>
          <a:xfrm>
            <a:off x="2194560" y="3529584"/>
            <a:ext cx="6236208" cy="438912"/>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Activities 9–10 briefing and course synthesis</a:t>
            </a:r>
          </a:p>
        </p:txBody>
      </p:sp>
      <p:sp>
        <p:nvSpPr>
          <p:cNvPr id="33" name="TextBox 32"/>
          <p:cNvSpPr txBox="1"/>
          <p:nvPr/>
        </p:nvSpPr>
        <p:spPr>
          <a:xfrm>
            <a:off x="8759952" y="3529584"/>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Demonstration and reflection</a:t>
            </a:r>
          </a:p>
        </p:txBody>
      </p:sp>
      <p:sp>
        <p:nvSpPr>
          <p:cNvPr id="34" name="Rectangle 33"/>
          <p:cNvSpPr/>
          <p:nvPr/>
        </p:nvSpPr>
        <p:spPr>
          <a:xfrm>
            <a:off x="658368" y="4005072"/>
            <a:ext cx="1389888"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48256" y="4005072"/>
            <a:ext cx="6565392"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13648" y="4005072"/>
            <a:ext cx="2880360"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4123944"/>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16:00–17:00</a:t>
            </a:r>
          </a:p>
        </p:txBody>
      </p:sp>
      <p:sp>
        <p:nvSpPr>
          <p:cNvPr id="38" name="TextBox 37"/>
          <p:cNvSpPr txBox="1"/>
          <p:nvPr/>
        </p:nvSpPr>
        <p:spPr>
          <a:xfrm>
            <a:off x="2194560" y="4096511"/>
            <a:ext cx="6236208" cy="438912"/>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Written Assessment — Short-Answer Questions (open book)</a:t>
            </a:r>
          </a:p>
        </p:txBody>
      </p:sp>
      <p:sp>
        <p:nvSpPr>
          <p:cNvPr id="39" name="TextBox 38"/>
          <p:cNvSpPr txBox="1"/>
          <p:nvPr/>
        </p:nvSpPr>
        <p:spPr>
          <a:xfrm>
            <a:off x="8759952" y="4096511"/>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Summative assessment</a:t>
            </a:r>
          </a:p>
        </p:txBody>
      </p:sp>
      <p:sp>
        <p:nvSpPr>
          <p:cNvPr id="40" name="Rectangle 39"/>
          <p:cNvSpPr/>
          <p:nvPr/>
        </p:nvSpPr>
        <p:spPr>
          <a:xfrm>
            <a:off x="658368" y="4572000"/>
            <a:ext cx="1389888"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48256" y="4572000"/>
            <a:ext cx="6565392"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13648" y="4572000"/>
            <a:ext cx="2880360" cy="566928"/>
          </a:xfrm>
          <a:prstGeom prst="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4690872"/>
            <a:ext cx="1143000" cy="402336"/>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17:00–18:00</a:t>
            </a:r>
          </a:p>
        </p:txBody>
      </p:sp>
      <p:sp>
        <p:nvSpPr>
          <p:cNvPr id="44" name="TextBox 43"/>
          <p:cNvSpPr txBox="1"/>
          <p:nvPr/>
        </p:nvSpPr>
        <p:spPr>
          <a:xfrm>
            <a:off x="2194560" y="4663440"/>
            <a:ext cx="6236208" cy="438912"/>
          </a:xfrm>
          <a:prstGeom prst="rect">
            <a:avLst/>
          </a:prstGeom>
          <a:noFill/>
        </p:spPr>
        <p:txBody>
          <a:bodyPr wrap="square" lIns="27432" rIns="27432" tIns="27432" bIns="27432" anchor="t">
            <a:spAutoFit/>
          </a:bodyPr>
          <a:lstStyle/>
          <a:p>
            <a:pPr algn="l">
              <a:spcAft>
                <a:spcPts val="0"/>
              </a:spcAft>
            </a:pPr>
            <a:r>
              <a:rPr sz="1200" b="1">
                <a:solidFill>
                  <a:srgbClr val="161B26"/>
                </a:solidFill>
                <a:latin typeface="Arial"/>
              </a:rPr>
              <a:t>Practical Performance Assessment (open book)</a:t>
            </a:r>
          </a:p>
        </p:txBody>
      </p:sp>
      <p:sp>
        <p:nvSpPr>
          <p:cNvPr id="45" name="TextBox 44"/>
          <p:cNvSpPr txBox="1"/>
          <p:nvPr/>
        </p:nvSpPr>
        <p:spPr>
          <a:xfrm>
            <a:off x="8759952" y="4663440"/>
            <a:ext cx="2587752" cy="438912"/>
          </a:xfrm>
          <a:prstGeom prst="rect">
            <a:avLst/>
          </a:prstGeom>
          <a:noFill/>
        </p:spPr>
        <p:txBody>
          <a:bodyPr wrap="square" lIns="27432" rIns="27432" tIns="27432" bIns="27432" anchor="t">
            <a:spAutoFit/>
          </a:bodyPr>
          <a:lstStyle/>
          <a:p>
            <a:pPr algn="l">
              <a:spcAft>
                <a:spcPts val="0"/>
              </a:spcAft>
            </a:pPr>
            <a:r>
              <a:rPr sz="1150" b="0">
                <a:solidFill>
                  <a:srgbClr val="5B6372"/>
                </a:solidFill>
                <a:latin typeface="Arial"/>
              </a:rPr>
              <a:t>Summative assessment</a:t>
            </a:r>
          </a:p>
        </p:txBody>
      </p:sp>
      <p:sp>
        <p:nvSpPr>
          <p:cNvPr id="46" name="TextBox 45"/>
          <p:cNvSpPr txBox="1"/>
          <p:nvPr/>
        </p:nvSpPr>
        <p:spPr>
          <a:xfrm>
            <a:off x="658368" y="5925312"/>
            <a:ext cx="10698480" cy="201168"/>
          </a:xfrm>
          <a:prstGeom prst="rect">
            <a:avLst/>
          </a:prstGeom>
          <a:noFill/>
        </p:spPr>
        <p:txBody>
          <a:bodyPr wrap="square" lIns="27432" rIns="27432" tIns="27432" bIns="27432" anchor="t">
            <a:spAutoFit/>
          </a:bodyPr>
          <a:lstStyle/>
          <a:p>
            <a:pPr algn="l">
              <a:spcAft>
                <a:spcPts val="0"/>
              </a:spcAft>
            </a:pPr>
            <a:r>
              <a:rPr sz="1000" b="0">
                <a:solidFill>
                  <a:srgbClr val="5B6372"/>
                </a:solidFill>
                <a:latin typeface="Arial"/>
              </a:rPr>
              <a:t>Tea breaks sit within facilitated time; lunch is excluded. Final assessment runs Day 2, 16:00–18:00.</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SOFTWARE DESIGN · ICT-DES-3005-1.1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Learning Outcomes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LO1</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Determine basic software components using ASP.NET framework to meet functional specifications.</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LO2</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Utilize ASP.NET framework to develop web apps in adherence to organizational practices.</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LO3</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Select essential ASP.NET controls and features to meet software design requirements.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LO4</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Examine the interoperability and functionality of ASP.NET software components.</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LO5</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Generate ASP.NET design documentation aligned with user specifications.</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ICT-DES-3005-1.1 · K/A EVIDENCE</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Skills Framework Alignment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K1 / A1</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Requirements and component boundaries · Activities 1–2</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K2 / A2</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Design tools, accessibility and controlled practice · Activities 3–4</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K3 / A3</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Razor controls, binding, validation and antiforgery · Activities 5–6</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K4 / A4</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Controller API, status/schema interoperability · Activities 7–8</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K5 / A5</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Deployment and traceable design documentation · Activities 9–10</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BEFORE THE ASSESSMENT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Briefing for Assessment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Open book</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Slides, Learner Guide and approved Activity material only.</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Individual evidence</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No discussion, messaging, screenshots or recording.</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WA first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Five short-answer questions map K1–K5; 60 minutes.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PP second</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Five practical tasks map A1–A5; 60 minutes.</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Submission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Upload the required evidence on the LMS.</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Clarification</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Assessor may use oral clarification only to close a minor gap.</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SUMMATIVE · INDIVIDUAL · OPEN BOOK</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Assessment and Funding</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Written Assessment</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WA-SAQ · 1 hour · K1–K5</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Practical Performance</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PP · 1 hour · A1–A5</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Competency</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both modes and be assessed Competent.</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Funding condition</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At least 75% verified SSG attendance; eligibility and terms apply.</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MANDATORY SEQUENCE</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Assessment Flow</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a:t>
            </a:r>
          </a:p>
        </p:txBody>
      </p:sp>
      <p:sp>
        <p:nvSpPr>
          <p:cNvPr id="10" name="Rounded Rectangle 9"/>
          <p:cNvSpPr/>
          <p:nvPr/>
        </p:nvSpPr>
        <p:spPr>
          <a:xfrm>
            <a:off x="777240"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44168" y="235000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941832"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TRAQOM</a:t>
            </a:r>
          </a:p>
        </p:txBody>
      </p:sp>
      <p:cxnSp>
        <p:nvCxnSpPr>
          <p:cNvPr id="15" name="Connector 14"/>
          <p:cNvCxnSpPr/>
          <p:nvPr/>
        </p:nvCxnSpPr>
        <p:spPr>
          <a:xfrm>
            <a:off x="2651760" y="322783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962656"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965960"/>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29584" y="235000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0" name="TextBox 19"/>
          <p:cNvSpPr txBox="1"/>
          <p:nvPr/>
        </p:nvSpPr>
        <p:spPr>
          <a:xfrm>
            <a:off x="3127248"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Assessment digital attendance</a:t>
            </a:r>
          </a:p>
        </p:txBody>
      </p:sp>
      <p:cxnSp>
        <p:nvCxnSpPr>
          <p:cNvPr id="21" name="Connector 20"/>
          <p:cNvCxnSpPr/>
          <p:nvPr/>
        </p:nvCxnSpPr>
        <p:spPr>
          <a:xfrm>
            <a:off x="4837176" y="322783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157216"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965960"/>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24144" y="235000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6" name="TextBox 25"/>
          <p:cNvSpPr txBox="1"/>
          <p:nvPr/>
        </p:nvSpPr>
        <p:spPr>
          <a:xfrm>
            <a:off x="5321807"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Sit WA then PP</a:t>
            </a:r>
          </a:p>
        </p:txBody>
      </p:sp>
      <p:cxnSp>
        <p:nvCxnSpPr>
          <p:cNvPr id="27" name="Connector 26"/>
          <p:cNvCxnSpPr/>
          <p:nvPr/>
        </p:nvCxnSpPr>
        <p:spPr>
          <a:xfrm>
            <a:off x="7031736" y="322783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2631"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965960"/>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9559" y="235000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2" name="TextBox 31"/>
          <p:cNvSpPr txBox="1"/>
          <p:nvPr/>
        </p:nvSpPr>
        <p:spPr>
          <a:xfrm>
            <a:off x="7507223"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Submit answers on LMS</a:t>
            </a:r>
          </a:p>
        </p:txBody>
      </p:sp>
      <p:cxnSp>
        <p:nvCxnSpPr>
          <p:cNvPr id="33" name="Connector 32"/>
          <p:cNvCxnSpPr/>
          <p:nvPr/>
        </p:nvCxnSpPr>
        <p:spPr>
          <a:xfrm>
            <a:off x="9217151" y="322783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37192"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4119" y="235000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4119"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38" name="TextBox 37"/>
          <p:cNvSpPr txBox="1"/>
          <p:nvPr/>
        </p:nvSpPr>
        <p:spPr>
          <a:xfrm>
            <a:off x="9701784"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Sign Summary Record</a:t>
            </a:r>
          </a:p>
        </p:txBody>
      </p:sp>
      <p:sp>
        <p:nvSpPr>
          <p:cNvPr id="39" name="Rectangle 38"/>
          <p:cNvSpPr/>
          <p:nvPr/>
        </p:nvSpPr>
        <p:spPr>
          <a:xfrm>
            <a:off x="658368" y="5367528"/>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495544"/>
            <a:ext cx="10378440" cy="201168"/>
          </a:xfrm>
          <a:prstGeom prst="rect">
            <a:avLst/>
          </a:prstGeom>
          <a:noFill/>
        </p:spPr>
        <p:txBody>
          <a:bodyPr wrap="square" lIns="27432" rIns="27432" tIns="27432" bIns="27432" anchor="t">
            <a:spAutoFit/>
          </a:bodyPr>
          <a:lstStyle/>
          <a:p>
            <a:pPr algn="ctr">
              <a:spcAft>
                <a:spcPts val="0"/>
              </a:spcAft>
            </a:pPr>
            <a:r>
              <a:rPr sz="1050" b="1">
                <a:solidFill>
                  <a:srgbClr val="161B26"/>
                </a:solidFill>
                <a:latin typeface="Arial"/>
              </a:rPr>
              <a:t>Courseware and assessment: https://lms-tms.tertiaryinfotech.com/</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ONE CUMULATIVE LOCAL CRM · 10 SNAPSHOTS</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Access the Hands-On Activities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Option A · clone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git clone https://github.com/tertiarycourses/TGS-2023040477-Build-ASP.NET-Web-Apps-with-Vibe-Coding.git</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Option B · ZIP</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GitHub · Code · Download ZIP</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Run locally</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Each Activity has src/LocalCRM plus its own mock-data folder.</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Start point</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Open activities/README.md and choose Activity 01.</a:t>
            </a:r>
          </a:p>
        </p:txBody>
      </p:sp>
      <p:sp>
        <p:nvSpPr>
          <p:cNvPr id="34" name="TextBox 33"/>
          <p:cNvSpPr txBox="1"/>
          <p:nvPr/>
        </p:nvSpPr>
        <p:spPr>
          <a:xfrm>
            <a:off x="914400" y="5696712"/>
            <a:ext cx="10058400" cy="246888"/>
          </a:xfrm>
          <a:prstGeom prst="rect">
            <a:avLst/>
          </a:prstGeom>
          <a:noFill/>
        </p:spPr>
        <p:txBody>
          <a:bodyPr wrap="square" lIns="27432" rIns="27432" tIns="27432" bIns="27432" anchor="t">
            <a:spAutoFit/>
          </a:bodyPr>
          <a:lstStyle/>
          <a:p>
            <a:pPr algn="ctr">
              <a:spcAft>
                <a:spcPts val="0"/>
              </a:spcAft>
            </a:pPr>
            <a:r>
              <a:rPr sz="1050" b="1">
                <a:solidFill>
                  <a:srgbClr val="1F6FEB"/>
                </a:solidFill>
                <a:latin typeface="Arial"/>
                <a:hlinkClick r:id="rId2"/>
              </a:rPr>
              <a:t>https://github.com/tertiarycourses/TGS-2023040477-Build-ASP.NET-Web-Apps-with-Vibe-Coding</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.NET 10 AUTHORITY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Modern ASP.NET Core · Legacy Boundary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Current course stack</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ASP.NET Core 10: Razor Pages, controllers, OpenAPI, EF Core and Kestrel.</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ASP.NET 4.x</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Web Forms/MVC 5 depend on .NET Framework/System.Web; historical comparison only.</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Classic ASP</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.asp and VBScript are a separate legacy technology; not taught as current Core.</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Source rule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Microsoft Learn current docs outrank secondary legacy tutorials.</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955279" cy="320040"/>
          </a:xfrm>
          <a:prstGeom prst="rect">
            <a:avLst/>
          </a:prstGeom>
          <a:noFill/>
        </p:spPr>
        <p:txBody>
          <a:bodyPr wrap="square" lIns="27432" rIns="27432" tIns="27432" bIns="27432" anchor="t">
            <a:spAutoFit/>
          </a:bodyPr>
          <a:lstStyle/>
          <a:p>
            <a:pPr algn="l">
              <a:spcAft>
                <a:spcPts val="0"/>
              </a:spcAft>
            </a:pPr>
            <a:r>
              <a:rPr sz="1500" b="1">
                <a:solidFill>
                  <a:srgbClr val="1F6FEB"/>
                </a:solidFill>
                <a:latin typeface="Arial"/>
              </a:rPr>
              <a:t>TOPIC 1 · LO1 · K1 / A1</a:t>
            </a:r>
          </a:p>
        </p:txBody>
      </p:sp>
      <p:sp>
        <p:nvSpPr>
          <p:cNvPr id="6" name="TextBox 5"/>
          <p:cNvSpPr txBox="1"/>
          <p:nvPr/>
        </p:nvSpPr>
        <p:spPr>
          <a:xfrm>
            <a:off x="1280160" y="2606040"/>
            <a:ext cx="8778240" cy="914400"/>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Design Components and the ASP.NET Core Runtime</a:t>
            </a:r>
          </a:p>
        </p:txBody>
      </p:sp>
      <p:sp>
        <p:nvSpPr>
          <p:cNvPr id="7" name="TextBox 6"/>
          <p:cNvSpPr txBox="1"/>
          <p:nvPr/>
        </p:nvSpPr>
        <p:spPr>
          <a:xfrm>
            <a:off x="1280160" y="3794760"/>
            <a:ext cx="8778240" cy="594360"/>
          </a:xfrm>
          <a:prstGeom prst="rect">
            <a:avLst/>
          </a:prstGeom>
          <a:noFill/>
        </p:spPr>
        <p:txBody>
          <a:bodyPr wrap="square" lIns="27432" rIns="27432" tIns="27432" bIns="27432" anchor="t">
            <a:spAutoFit/>
          </a:bodyPr>
          <a:lstStyle/>
          <a:p>
            <a:pPr algn="l">
              <a:spcAft>
                <a:spcPts val="0"/>
              </a:spcAft>
            </a:pPr>
            <a:r>
              <a:rPr sz="1500" b="0">
                <a:solidFill>
                  <a:srgbClr val="5B6372"/>
                </a:solidFill>
                <a:latin typeface="Arial"/>
              </a:rPr>
              <a:t>requirements → component boundaries → request pipeline → verified scaffold</a:t>
            </a:r>
          </a:p>
        </p:txBody>
      </p:sp>
      <p:sp>
        <p:nvSpPr>
          <p:cNvPr id="8" name="TextBox 7"/>
          <p:cNvSpPr txBox="1"/>
          <p:nvPr/>
        </p:nvSpPr>
        <p:spPr>
          <a:xfrm>
            <a:off x="9509760" y="2057400"/>
            <a:ext cx="1417320" cy="1097280"/>
          </a:xfrm>
          <a:prstGeom prst="rect">
            <a:avLst/>
          </a:prstGeom>
          <a:noFill/>
        </p:spPr>
        <p:txBody>
          <a:bodyPr wrap="square" lIns="27432" rIns="27432" tIns="27432" bIns="27432" anchor="t">
            <a:spAutoFit/>
          </a:bodyPr>
          <a:lstStyle/>
          <a:p>
            <a:pPr algn="r">
              <a:spcAft>
                <a:spcPts val="0"/>
              </a:spcAft>
            </a:pPr>
            <a:r>
              <a:rPr sz="7200" b="1">
                <a:solidFill>
                  <a:srgbClr val="D7E0EA"/>
                </a:solidFill>
                <a:latin typeface="Arial"/>
              </a:rPr>
              <a:t>01</a:t>
            </a:r>
          </a:p>
        </p:txBody>
      </p:sp>
      <p:sp>
        <p:nvSpPr>
          <p:cNvPr id="9" name="TextBox 8"/>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10" name="TextBox 9"/>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a:t>
            </a:r>
          </a:p>
        </p:txBody>
      </p:sp>
    </p:spTree>
  </p:cSld>
  <p:clrMapOvr>
    <a:masterClrMapping/>
  </p:clrMapOvr>
  <p:transition spd="med">
    <p:push/>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HTTP request and response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Browser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creates method, URL and headers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Kestrel</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accepts the TCP/TLS request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Middleware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applies cross-cutting policy</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Endpoint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binds input and runs logic</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Response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status, headers and body return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HTTP request and response contract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app.MapGet("/health", () =&gt; Results.Ok(new { status = "ok" }));</a:t>
            </a:r>
          </a:p>
        </p:txBody>
      </p:sp>
      <p:sp>
        <p:nvSpPr>
          <p:cNvPr id="15" name="Rounded Rectangle 14"/>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9" name="TextBox 18"/>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Method</a:t>
            </a:r>
          </a:p>
        </p:txBody>
      </p:sp>
      <p:sp>
        <p:nvSpPr>
          <p:cNvPr id="20" name="TextBox 19"/>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GET reads; POST creates; PUT replaces; DELETE removes</a:t>
            </a:r>
          </a:p>
        </p:txBody>
      </p:sp>
      <p:sp>
        <p:nvSpPr>
          <p:cNvPr id="21" name="Rounded Rectangle 20"/>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5" name="TextBox 24"/>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Target</a:t>
            </a:r>
          </a:p>
        </p:txBody>
      </p:sp>
      <p:sp>
        <p:nvSpPr>
          <p:cNvPr id="26" name="TextBox 25"/>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/contacts/42 plus query string</a:t>
            </a:r>
          </a:p>
        </p:txBody>
      </p:sp>
      <p:sp>
        <p:nvSpPr>
          <p:cNvPr id="27" name="Rounded Rectangle 26"/>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1" name="TextBox 30"/>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Headers</a:t>
            </a:r>
          </a:p>
        </p:txBody>
      </p:sp>
      <p:sp>
        <p:nvSpPr>
          <p:cNvPr id="32" name="TextBox 31"/>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Accept, Content-Type, Authorization, trace context</a:t>
            </a:r>
          </a:p>
        </p:txBody>
      </p:sp>
      <p:sp>
        <p:nvSpPr>
          <p:cNvPr id="33" name="Rounded Rectangle 32"/>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7" name="TextBox 36"/>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Body</a:t>
            </a:r>
          </a:p>
        </p:txBody>
      </p:sp>
      <p:sp>
        <p:nvSpPr>
          <p:cNvPr id="38" name="TextBox 37"/>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JSON or form payload; never implied by a GET</a:t>
            </a:r>
          </a:p>
        </p:txBody>
      </p:sp>
      <p:sp>
        <p:nvSpPr>
          <p:cNvPr id="39" name="Rounded Rectangle 38"/>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1" name="TextBox 40"/>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HTTP request and response contract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Method</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GET reads; POST creates; PUT replaces; DELETE removes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Target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/contacts/42 plus query string</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Headers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Accept, Content-Type, Authorization, trace context</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Body</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JSON or form payload; never implied by a GET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Status</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2xx success, 4xx caller issue, 5xx server failure</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HTTP request and response contract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404</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route template did not match</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405</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path matched but method did not</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415</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Content-Type cannot be read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500</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unhandled endpoint exception</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curl -i /health returns HTTP 200</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Content-Type is application/json</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The response body matches the declared contract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ASP.NET technology family boundary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23</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Classic ASP</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.asp + VBScript on IIS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ASP.NET 4.x</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Web Forms/MVC 5 on .NET Framework</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ASP.NET Core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cross-platform unified web stack</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App model</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Razor Pages, MVC, API, Blazor</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Host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Kestrel directly or behind proxy</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ASP.NET technology family boundary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24</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&lt;TargetFramework&gt;net10.0&lt;/TargetFramework&gt;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&lt;Nullable&gt;enable&lt;/Nullable&gt;</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Classic ASP</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Server-side script; legacy maintenance only</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Web Forms</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.aspx event lifecycle; not part of ASP.NET Core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MVC 5</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System.Web on .NET Framework</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ASP.NET Core MVC</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Microsoft.AspNetCore.* packages</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ASP.NET technology family boundary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25</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Classic ASP</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Server-side script; legacy maintenance only</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Web Forms</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.aspx event lifecycle; not part of ASP.NET Core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MVC 5</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System.Web on .NET Framework</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ASP.NET Core MVC</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Microsoft.AspNetCore.* packages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Target</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net10.0 for this course</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ASP.NET technology family boundary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26</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tutorial</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System.Web examples do not compile on Core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file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.aspx controls are not Razor</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runtime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 Framework is Windows-only</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host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IIS concepts are mistaken for the app pipeline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--list-sdks includes 10.0</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csproj targets net10.0</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No System.Web dependency exists</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SDK, runtime and target framework</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27</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global.json</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selects an allowed SDK</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dotnet CLI</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restores and builds project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Roslyn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compiles C# into IL</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.NET runtime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loads assemblies and JITs code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ASP.NET host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starts Kestrel and endpoints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SDK, runtime and target framework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28</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"sdk": { "version": "10.0.100", "rollForward": "latestPatch" }</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SDK</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tools plus templates</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Runtime</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executes a built application</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TFM</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 compatibility contract</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RID</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optional platform-specific publish target</a:t>
            </a:r>
          </a:p>
        </p:txBody>
      </p:sp>
      <p:sp>
        <p:nvSpPr>
          <p:cNvPr id="43" name="Rounded Rectangle 42"/>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SDK, runtime and target framework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29</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SDK</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build tools plus templates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Runtime</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executes a built application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TFM</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net10.0 API compatibility contract</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RID</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optional platform-specific publish target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Lock</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global.json prevents silent SDK drift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SDK, runtime and target framework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30</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NETSDK1045</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installed SDK cannot target net10.0</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Restore error</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package source or version is unavailable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Works on mine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SDK version was not pinned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Runtime missing</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framework-dependent publish reached an empty host</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--info records SDK and runtime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build ends with 0 errors</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global.json is committed with the design</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Project template and file ownership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31</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dotnet new</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materialises a reviewed template</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csproj</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declares framework and packages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Program.cs</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owns composition root</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wwwroot/Pages</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own static and Razor UI</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obj/bin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generated outputs stay disposable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Project template and file ownership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32</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new webapp -n LocalCRM --framework net10.0</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new list web</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webapp</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Razor Pages project template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webapi</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HTTP API template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--no-https</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for constrained local tests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--use-controllers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selects controller API style</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Project template and file ownership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33</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webapp</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Razor Pages project template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webapi</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HTTP API template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--no-https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only for constrained local tests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--use-controllers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selects controller API style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--dry-run</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previews files before creation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Project template and file ownership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34</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Template absent</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required SDK/workload is missing</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Generated files edited</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obj/bin were mistaken for source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Secret committed</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local settings were treated as portable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Name collision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namespace and folder identity diverged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new --dry-run shows the intended template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git status excludes bin/ and obj/</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run exposes the generated endpoint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Composition root and dependency injection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35</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CreateBuilder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collects services and configuration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Services</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register abstractions and lifetimes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Build</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freezes the service provider</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Request scope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resolves scoped dependencies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Dispose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releases scoped resources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Composition root and dependency injection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36</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builder.Services.AddScoped&lt;IContactStore, SqliteContactStore&gt;();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var app = builder.Build();</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Singleton</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one instance for process lifetime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Scoped</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one instance per HTTP request</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Transient</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new instance per resolution</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Constructor</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declares required dependency</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Composition root and dependency injection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37</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Singleton</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one instance for process lifetime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Scoped</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one instance per HTTP request</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Transient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new instance per resolution</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Constructor</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declares required dependency</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Interface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separates consumer from implementation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Composition root and dependency injection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38</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Cannot resolve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service was never registered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Captive dependency</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singleton holds a scoped service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Service locator</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runtime GetService hides the contract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registration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last registration silently wins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Startup completes without DI exception</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One scoped instance is reused within a request</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Unit test can replace IContactStore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Configuration provider precedence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39</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appsettings.json</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stores safe defaults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Environment JSON</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overrides per environment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User secrets</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protect local development secret</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Environment vars</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override deployment values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Options</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bind and validate typed config</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Configuration provider precedence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40</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builder.Services.AddOptions&lt;AppOptions&gt;()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.BindConfiguration("App")</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.ValidateDataAnnotations().ValidateOnStart();</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Key path</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ConnectionStrings:LocalCRM</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Env encoding</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double underscore represents colon</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Secret</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never committed to appsettings.json</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Options</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ValidateOnStart catches invalid config</a:t>
            </a:r>
          </a:p>
        </p:txBody>
      </p:sp>
      <p:sp>
        <p:nvSpPr>
          <p:cNvPr id="43" name="Rounded Rectangle 42"/>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Configuration provider precedence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41</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Key path</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ConnectionStrings:LocalCRM</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Env encoding</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double underscore represents colon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Secret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never committed to appsettings.json</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Options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ValidateOnStart catches invalid config</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Precedence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later provider overrides earlier</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Configuration provider precedence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42</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Null option</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key path does not match property</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Dev leak</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secret landed in source control</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environment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ASPNETCORE_ENVIRONMENT is incorrect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Late failure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options were not validated at startup</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Startup rejects an invalid required setting</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env var changes the resolved value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secret scan finds no credential</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Middleware pipeline ordering</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43</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Exception handler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catches downstream failures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HTTPS/static</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normalises transport and assets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Routing</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selects endpoint candidates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AuthN/AuthZ</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creates identity then enforces policy</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Endpoint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executes selected handler</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Middleware pipeline ordering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44</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app.UseExceptionHandler("/Error");</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app.UseHttpsRedirection();</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app.UseAuthorization();</a:t>
            </a:r>
          </a:p>
        </p:txBody>
      </p:sp>
      <p:sp>
        <p:nvSpPr>
          <p:cNvPr id="19" name="TextBox 18"/>
          <p:cNvSpPr txBox="1"/>
          <p:nvPr/>
        </p:nvSpPr>
        <p:spPr>
          <a:xfrm>
            <a:off x="896112" y="310895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4</a:t>
            </a:r>
          </a:p>
        </p:txBody>
      </p:sp>
      <p:sp>
        <p:nvSpPr>
          <p:cNvPr id="20" name="TextBox 19"/>
          <p:cNvSpPr txBox="1"/>
          <p:nvPr/>
        </p:nvSpPr>
        <p:spPr>
          <a:xfrm>
            <a:off x="1307592" y="310895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app.MapRazorPages();</a:t>
            </a:r>
          </a:p>
        </p:txBody>
      </p:sp>
      <p:sp>
        <p:nvSpPr>
          <p:cNvPr id="21" name="Rounded Rectangle 20"/>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5" name="TextBox 24"/>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Use</a:t>
            </a:r>
          </a:p>
        </p:txBody>
      </p:sp>
      <p:sp>
        <p:nvSpPr>
          <p:cNvPr id="26" name="TextBox 25"/>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can run before and after next</a:t>
            </a:r>
          </a:p>
        </p:txBody>
      </p:sp>
      <p:sp>
        <p:nvSpPr>
          <p:cNvPr id="27" name="Rounded Rectangle 26"/>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31" name="TextBox 30"/>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Run</a:t>
            </a:r>
          </a:p>
        </p:txBody>
      </p:sp>
      <p:sp>
        <p:nvSpPr>
          <p:cNvPr id="32" name="TextBox 31"/>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terminal middleware</a:t>
            </a:r>
          </a:p>
        </p:txBody>
      </p:sp>
      <p:sp>
        <p:nvSpPr>
          <p:cNvPr id="33" name="Rounded Rectangle 32"/>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7" name="TextBox 36"/>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Map</a:t>
            </a:r>
          </a:p>
        </p:txBody>
      </p:sp>
      <p:sp>
        <p:nvSpPr>
          <p:cNvPr id="38" name="TextBox 37"/>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branches by path</a:t>
            </a:r>
          </a:p>
        </p:txBody>
      </p:sp>
      <p:sp>
        <p:nvSpPr>
          <p:cNvPr id="39" name="Rounded Rectangle 38"/>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3" name="TextBox 42"/>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Order</a:t>
            </a:r>
          </a:p>
        </p:txBody>
      </p:sp>
      <p:sp>
        <p:nvSpPr>
          <p:cNvPr id="44" name="TextBox 43"/>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registration order is execution order</a:t>
            </a:r>
          </a:p>
        </p:txBody>
      </p:sp>
      <p:sp>
        <p:nvSpPr>
          <p:cNvPr id="45" name="Rounded Rectangle 44"/>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7" name="TextBox 46"/>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Middleware pipeline ordering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45</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Use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can run before and after next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Run</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terminal middleware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Map</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branches by path</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Order</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registration order is execution order</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Short-circuit</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response ends without downstream call</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Middleware pipeline ordering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46</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401/403 surprise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authorization ran before authentication</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Headers absent</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middleware ran after endpoint</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Static 404</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static files were not mapped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Details leak</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developer exception page reached production</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Trace log shows expected middleware order</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Production errors use generic ProblemDetails</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Protected endpoint enforces its policy</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MECHANISM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Vibe coding control loop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47</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Specify</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state outcome, files and constraints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Generate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AI proposes the smallest patch</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Inspect</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review diff and dependency changes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Verify</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build, test and probe behaviour</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Record</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commit decision and evidence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Vibe coding control loop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48</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Prompt: Add GET /health to Program.cs only.</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Constraints: net10.0; no new packages.</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Verify: dotnet test &amp;&amp; curl -i /health</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Context</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target files and accepted architecture</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Constraints</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no secrets, accessible UI</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Acceptance</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commands and exact observable result</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Diff budget</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reject unrelated changes</a:t>
            </a:r>
          </a:p>
        </p:txBody>
      </p:sp>
      <p:sp>
        <p:nvSpPr>
          <p:cNvPr id="43" name="Rounded Rectangle 42"/>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 / A1</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Vibe coding control loop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49</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Context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target files and accepted architecture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Constraints</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net10.0, no secrets, accessible UI</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Acceptance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commands and exact observable result</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Diff budget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reject unrelated changes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Rollback</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checkpoint before generation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1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Vibe coding control loop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50</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Prompt drift</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scope did not name files</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Hallucinated API</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package/version was not checked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Silent regression</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the happy path was probed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Mega-diff</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one prompt mixed unrelated changes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git diff contains only declared files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test is green</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manual probe produces named evidence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1 · EDITABLE NATIVE CHART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LO1 evidence profile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51</a:t>
            </a:r>
          </a:p>
        </p:txBody>
      </p:sp>
      <p:graphicFrame>
        <p:nvGraphicFramePr>
          <p:cNvPr id="10" name="Chart 9"/>
          <p:cNvGraphicFramePr>
            <a:graphicFrameLocks noGrp="1"/>
          </p:cNvGraphicFramePr>
          <p:nvPr/>
        </p:nvGraphicFramePr>
        <p:xfrm>
          <a:off x="777240" y="1755648"/>
          <a:ext cx="6629400" cy="4069080"/>
        </p:xfrm>
        <a:graphic>
          <a:graphicData uri="http://schemas.openxmlformats.org/drawingml/2006/chart">
            <c:chart xmlns:c="http://schemas.openxmlformats.org/drawingml/2006/chart" r:id="rId2"/>
          </a:graphicData>
        </a:graphic>
      </p:graphicFrame>
      <p:sp>
        <p:nvSpPr>
          <p:cNvPr id="11" name="Rounded Rectangle 10"/>
          <p:cNvSpPr/>
          <p:nvPr/>
        </p:nvSpPr>
        <p:spPr>
          <a:xfrm>
            <a:off x="7726679" y="1755648"/>
            <a:ext cx="3767328" cy="4069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00400" cy="301752"/>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WHAT THE DATA SHOWS</a:t>
            </a:r>
          </a:p>
        </p:txBody>
      </p:sp>
      <p:sp>
        <p:nvSpPr>
          <p:cNvPr id="13" name="TextBox 12"/>
          <p:cNvSpPr txBox="1"/>
          <p:nvPr/>
        </p:nvSpPr>
        <p:spPr>
          <a:xfrm>
            <a:off x="8028431" y="2578608"/>
            <a:ext cx="3154680" cy="1051560"/>
          </a:xfrm>
          <a:prstGeom prst="rect">
            <a:avLst/>
          </a:prstGeom>
          <a:noFill/>
        </p:spPr>
        <p:txBody>
          <a:bodyPr wrap="square" lIns="27432" rIns="27432" tIns="27432" bIns="27432" anchor="t">
            <a:spAutoFit/>
          </a:bodyPr>
          <a:lstStyle/>
          <a:p>
            <a:pPr algn="l">
              <a:spcAft>
                <a:spcPts val="0"/>
              </a:spcAft>
            </a:pPr>
            <a:r>
              <a:rPr sz="1700" b="1">
                <a:solidFill>
                  <a:srgbClr val="161B26"/>
                </a:solidFill>
                <a:latin typeface="Arial"/>
              </a:rPr>
              <a:t>The review loop drives assumptions to zero before release.</a:t>
            </a:r>
          </a:p>
        </p:txBody>
      </p:sp>
      <p:sp>
        <p:nvSpPr>
          <p:cNvPr id="14" name="TextBox 13"/>
          <p:cNvSpPr txBox="1"/>
          <p:nvPr/>
        </p:nvSpPr>
        <p:spPr>
          <a:xfrm>
            <a:off x="8028431" y="3977639"/>
            <a:ext cx="3154680" cy="123444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Worked-example values are illustrative evidence counts, not industry benchmarks. Edit the native chart with the class results.</a:t>
            </a:r>
          </a:p>
        </p:txBody>
      </p:sp>
      <p:sp>
        <p:nvSpPr>
          <p:cNvPr id="15" name="Rounded Rectangle 14"/>
          <p:cNvSpPr/>
          <p:nvPr/>
        </p:nvSpPr>
        <p:spPr>
          <a:xfrm>
            <a:off x="8028431" y="5321808"/>
            <a:ext cx="160020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EDITABLE CHART</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1 · HANDS-ON ACTIVITY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Activity 1: Translate Requirements into a Verified ASP.NET Core Scaffold</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52</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55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Turn a LocalCRM customer-contact brief into component boundaries and a reproducible .NET 10 Razor Pages project.</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Parse brief</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Name components</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Pin SDK</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Scaffold</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Build and probe</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requirements.md, component-map.md, pinned SDK file and a clean net10.0 Razor Pages scaffold</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activities/activity-01-requirements-and-scaffold/src/LocalCRM · full commands in the Learner Guide</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1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1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53</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Act as a software-design assistant. Convert the supplied LocalCRM brief into UI, application-service, data and hosting components. Preserve requirement IDs. Do not write code yet. Return assumptions separately.</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1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1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54</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requirements.md, component-map.md, pinned SDK file and a clean net10.0 Razor Pages scaffold.</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K1/A1 EVIDENCE</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1 · HANDS-ON ACTIVITY · LO1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2: Run a Controlled Vibe-Coding Change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55</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45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Add a health endpoint through a specify–generate–inspect–verify loop without accepting unrelated AI edits.</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Checkpoint</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Constrain prompt</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Apply patch</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Inspect diff</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Verify evidence</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a reviewed /health endpoint, build evidence and a decision log</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activities/activity-02-controlled-vibe-change/src/LocalCRM · full commands in the Learner Guide</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1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2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56</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Modify LocalCRM/Program.cs only. Add GET /health returning HTTP 200 JSON { status: 'ok', service: 'LocalCRM' }. Do not add packages or reorder existing middleware. Explain the exact diff and provide curl acceptance evidence.</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1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2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57</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a reviewed /health endpoint, build evidence and a decision log.</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K1/A1 EVIDENCE</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LO1 · K1 / A1</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Topic 1 · Evidence Recap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58</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Architecture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the component boundary and owner.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Mechanism</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Trace the runtime/data flow in order.</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Contract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Point to fields, configuration, code or status semantics.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Failure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Recognise the named signal and likely cause.</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Verification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Produce repeatable command or UI evidence.</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Activity link</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cumulative LocalCRM snapshot for this LO.</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955279" cy="320040"/>
          </a:xfrm>
          <a:prstGeom prst="rect">
            <a:avLst/>
          </a:prstGeom>
          <a:noFill/>
        </p:spPr>
        <p:txBody>
          <a:bodyPr wrap="square" lIns="27432" rIns="27432" tIns="27432" bIns="27432" anchor="t">
            <a:spAutoFit/>
          </a:bodyPr>
          <a:lstStyle/>
          <a:p>
            <a:pPr algn="l">
              <a:spcAft>
                <a:spcPts val="0"/>
              </a:spcAft>
            </a:pPr>
            <a:r>
              <a:rPr sz="1500" b="1">
                <a:solidFill>
                  <a:srgbClr val="6D3FD2"/>
                </a:solidFill>
                <a:latin typeface="Arial"/>
              </a:rPr>
              <a:t>TOPIC 2 · LO2 · K2 / A2</a:t>
            </a:r>
          </a:p>
        </p:txBody>
      </p:sp>
      <p:sp>
        <p:nvSpPr>
          <p:cNvPr id="6" name="TextBox 5"/>
          <p:cNvSpPr txBox="1"/>
          <p:nvPr/>
        </p:nvSpPr>
        <p:spPr>
          <a:xfrm>
            <a:off x="1280160" y="2606040"/>
            <a:ext cx="8778240" cy="914400"/>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Accessible UI and Organisational Vibe-Coding Practice</a:t>
            </a:r>
          </a:p>
        </p:txBody>
      </p:sp>
      <p:sp>
        <p:nvSpPr>
          <p:cNvPr id="7" name="TextBox 6"/>
          <p:cNvSpPr txBox="1"/>
          <p:nvPr/>
        </p:nvSpPr>
        <p:spPr>
          <a:xfrm>
            <a:off x="1280160" y="3794760"/>
            <a:ext cx="8778240" cy="594360"/>
          </a:xfrm>
          <a:prstGeom prst="rect">
            <a:avLst/>
          </a:prstGeom>
          <a:noFill/>
        </p:spPr>
        <p:txBody>
          <a:bodyPr wrap="square" lIns="27432" rIns="27432" tIns="27432" bIns="27432" anchor="t">
            <a:spAutoFit/>
          </a:bodyPr>
          <a:lstStyle/>
          <a:p>
            <a:pPr algn="l">
              <a:spcAft>
                <a:spcPts val="0"/>
              </a:spcAft>
            </a:pPr>
            <a:r>
              <a:rPr sz="1500" b="0">
                <a:solidFill>
                  <a:srgbClr val="5B6372"/>
                </a:solidFill>
                <a:latin typeface="Arial"/>
              </a:rPr>
              <a:t>semantic structure → accessible interaction → reviewable AI-assisted change</a:t>
            </a:r>
          </a:p>
        </p:txBody>
      </p:sp>
      <p:sp>
        <p:nvSpPr>
          <p:cNvPr id="8" name="TextBox 7"/>
          <p:cNvSpPr txBox="1"/>
          <p:nvPr/>
        </p:nvSpPr>
        <p:spPr>
          <a:xfrm>
            <a:off x="9509760" y="2057400"/>
            <a:ext cx="1417320" cy="1097280"/>
          </a:xfrm>
          <a:prstGeom prst="rect">
            <a:avLst/>
          </a:prstGeom>
          <a:noFill/>
        </p:spPr>
        <p:txBody>
          <a:bodyPr wrap="square" lIns="27432" rIns="27432" tIns="27432" bIns="27432" anchor="t">
            <a:spAutoFit/>
          </a:bodyPr>
          <a:lstStyle/>
          <a:p>
            <a:pPr algn="r">
              <a:spcAft>
                <a:spcPts val="0"/>
              </a:spcAft>
            </a:pPr>
            <a:r>
              <a:rPr sz="7200" b="1">
                <a:solidFill>
                  <a:srgbClr val="D7E0EA"/>
                </a:solidFill>
                <a:latin typeface="Arial"/>
              </a:rPr>
              <a:t>02</a:t>
            </a:r>
          </a:p>
        </p:txBody>
      </p:sp>
      <p:sp>
        <p:nvSpPr>
          <p:cNvPr id="9" name="TextBox 8"/>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10" name="TextBox 9"/>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59</a:t>
            </a:r>
          </a:p>
        </p:txBody>
      </p:sp>
    </p:spTree>
  </p:cSld>
  <p:clrMapOvr>
    <a:masterClrMapping/>
  </p:clrMapOvr>
  <p:transition spd="med">
    <p:push/>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Semantic document structure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60</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HTML parser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builds the DOM</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Landmarks</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identify page regions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Headings</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form a navigable outline</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Controls</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expose native roles and states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maps semantics into accessibility APIs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Semantic document structure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61</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&lt;main&gt;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&lt;h1&gt;CRM contacts&lt;/h1&gt;</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&lt;button type="submit"&gt;Add contact&lt;/button&gt;</a:t>
            </a:r>
          </a:p>
        </p:txBody>
      </p:sp>
      <p:sp>
        <p:nvSpPr>
          <p:cNvPr id="19" name="TextBox 18"/>
          <p:cNvSpPr txBox="1"/>
          <p:nvPr/>
        </p:nvSpPr>
        <p:spPr>
          <a:xfrm>
            <a:off x="896112" y="310895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4</a:t>
            </a:r>
          </a:p>
        </p:txBody>
      </p:sp>
      <p:sp>
        <p:nvSpPr>
          <p:cNvPr id="20" name="TextBox 19"/>
          <p:cNvSpPr txBox="1"/>
          <p:nvPr/>
        </p:nvSpPr>
        <p:spPr>
          <a:xfrm>
            <a:off x="1307592" y="310895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&lt;/main&gt;</a:t>
            </a:r>
          </a:p>
        </p:txBody>
      </p:sp>
      <p:sp>
        <p:nvSpPr>
          <p:cNvPr id="21" name="Rounded Rectangle 20"/>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5" name="TextBox 24"/>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main</a:t>
            </a:r>
          </a:p>
        </p:txBody>
      </p:sp>
      <p:sp>
        <p:nvSpPr>
          <p:cNvPr id="26" name="TextBox 25"/>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one primary content region</a:t>
            </a:r>
          </a:p>
        </p:txBody>
      </p:sp>
      <p:sp>
        <p:nvSpPr>
          <p:cNvPr id="27" name="Rounded Rectangle 26"/>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31" name="TextBox 30"/>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nav</a:t>
            </a:r>
          </a:p>
        </p:txBody>
      </p:sp>
      <p:sp>
        <p:nvSpPr>
          <p:cNvPr id="32" name="TextBox 31"/>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named navigation collection</a:t>
            </a:r>
          </a:p>
        </p:txBody>
      </p:sp>
      <p:sp>
        <p:nvSpPr>
          <p:cNvPr id="33" name="Rounded Rectangle 32"/>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7" name="TextBox 36"/>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h1–h6</a:t>
            </a:r>
          </a:p>
        </p:txBody>
      </p:sp>
      <p:sp>
        <p:nvSpPr>
          <p:cNvPr id="38" name="TextBox 37"/>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do not skip levels for styling</a:t>
            </a:r>
          </a:p>
        </p:txBody>
      </p:sp>
      <p:sp>
        <p:nvSpPr>
          <p:cNvPr id="39" name="Rounded Rectangle 38"/>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3" name="TextBox 42"/>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button</a:t>
            </a:r>
          </a:p>
        </p:txBody>
      </p:sp>
      <p:sp>
        <p:nvSpPr>
          <p:cNvPr id="44" name="TextBox 43"/>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action with keyboard behaviour</a:t>
            </a:r>
          </a:p>
        </p:txBody>
      </p:sp>
      <p:sp>
        <p:nvSpPr>
          <p:cNvPr id="45" name="Rounded Rectangle 44"/>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7" name="TextBox 46"/>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Semantic document structure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62</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main</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one primary content region</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nav</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named navigation collection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h1–h6</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 not skip levels for styling</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button</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action with keyboard behaviour</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a[href]</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navigation to a real target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Semantic document structure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63</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Div soup</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visual boxes have no programmatic role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Heading jump</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outline no longer communicates hierarchy</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Clickable span</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keyboard activation is missing</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main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landmark navigation becomes ambiguous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Accessibility tree exposes main and button</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Heading outline has one h1</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Tab and Enter activate the control</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Accessible name computation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64</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Element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starts with native semantics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aria-labelledby</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references visible text first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aria-label</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supplies explicit fallback</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Content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native text may name control</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Name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screen reader announces purpose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Accessible name computation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65</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&lt;label for="email"&gt;Summary&lt;/label&gt;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&lt;input id="email" name="email" type="email" aria-describedby="email-help"&gt;</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label for</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associates text with an input id</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alt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names an informative image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empty alt</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marks decorative image</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aria-describedby</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adds help, not the name</a:t>
            </a:r>
          </a:p>
        </p:txBody>
      </p:sp>
      <p:sp>
        <p:nvSpPr>
          <p:cNvPr id="41" name="Rounded Rectangle 40"/>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Accessible name computation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66</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label for</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associates text with an input id</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alt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names an informative image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empty alt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marks decorative image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aria-describedby</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adds help, not the name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Unique id</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prevents broken reference</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Accessible name computation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67</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Placeholder only</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name disappears after typing</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Filename announced</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image has missing or poor alt</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id</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label binds to the wrong control</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ARIA override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visible and spoken names disagree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Browser Accessibility pane shows the intended name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Screen reader announces label and help</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axe reports no form-label violation</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Keyboard and focus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68</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Tab</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moves through interactive controls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Focus indicator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shows current target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Enter/Space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activates native control</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Validation</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moves attention to actionable error</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Return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restores focus after transient UI</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Keyboard and focus contract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69</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button:focus-visible { outline: 3px solid #1f6feb; outline-offset: 3px; }</a:t>
            </a:r>
          </a:p>
        </p:txBody>
      </p:sp>
      <p:sp>
        <p:nvSpPr>
          <p:cNvPr id="15" name="Rounded Rectangle 14"/>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9" name="TextBox 18"/>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Order</a:t>
            </a:r>
          </a:p>
        </p:txBody>
      </p:sp>
      <p:sp>
        <p:nvSpPr>
          <p:cNvPr id="20" name="TextBox 19"/>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DOM order should match visual order</a:t>
            </a:r>
          </a:p>
        </p:txBody>
      </p:sp>
      <p:sp>
        <p:nvSpPr>
          <p:cNvPr id="21" name="Rounded Rectangle 20"/>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5" name="TextBox 24"/>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tabindex=0</a:t>
            </a:r>
          </a:p>
        </p:txBody>
      </p:sp>
      <p:sp>
        <p:nvSpPr>
          <p:cNvPr id="26" name="TextBox 25"/>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adds custom widget to natural order</a:t>
            </a:r>
          </a:p>
        </p:txBody>
      </p:sp>
      <p:sp>
        <p:nvSpPr>
          <p:cNvPr id="27" name="Rounded Rectangle 26"/>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1" name="TextBox 30"/>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tabindex=-1</a:t>
            </a:r>
          </a:p>
        </p:txBody>
      </p:sp>
      <p:sp>
        <p:nvSpPr>
          <p:cNvPr id="32" name="TextBox 31"/>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allows scripted focus only</a:t>
            </a:r>
          </a:p>
        </p:txBody>
      </p:sp>
      <p:sp>
        <p:nvSpPr>
          <p:cNvPr id="33" name="Rounded Rectangle 32"/>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7" name="TextBox 36"/>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:focus-visible</a:t>
            </a:r>
          </a:p>
        </p:txBody>
      </p:sp>
      <p:sp>
        <p:nvSpPr>
          <p:cNvPr id="38" name="TextBox 37"/>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keeps visible keyboard cue</a:t>
            </a:r>
          </a:p>
        </p:txBody>
      </p:sp>
      <p:sp>
        <p:nvSpPr>
          <p:cNvPr id="39" name="Rounded Rectangle 38"/>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1" name="TextBox 40"/>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Keyboard and focus contract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70</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Order</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DOM order should match visual order</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tabindex=0</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adds custom widget to natural order</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tabindex=-1</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allows scripted focus only</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:focus-visible</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keeps visible keyboard cue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Escape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closes modal/menu and restores focus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Keyboard and focus contract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71</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Focus trap</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user cannot leave a component</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Focus loss</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removed node held focus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Positive tabindex</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manual ordering becomes brittle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Mouse-only handler</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keyboard event path is absent</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Entire workflow completes without mouse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Focus indicator remains visible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Modal Escape returns focus to opener</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Contrast and non-colour cues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72</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Tokens</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define foreground/background pair</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CSS cascade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resolves actual computed colours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Contrast ratio</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compares relative luminance</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State cue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adds text/icon/border beyond colour</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Audit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checks each interactive state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Contrast and non-colour cues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73</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.error { color:#b42318; border-left:4px solid #b42318; }</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.error::before { content:"Error: "; font-weight:700; }</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Normal text</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target 4.5:1</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Large text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target 3:1</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UI component</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target 3:1 against adjacent colour</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Link</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not identified by colour alone</a:t>
            </a:r>
          </a:p>
        </p:txBody>
      </p:sp>
      <p:sp>
        <p:nvSpPr>
          <p:cNvPr id="41" name="Rounded Rectangle 40"/>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Contrast and non-colour cues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74</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Normal text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target 4.5:1</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Large text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target 3:1</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UI component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target 3:1 against adjacent colour</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Link</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not identified by colour alone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State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hover, focus, disabled and error all checked</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Contrast and non-colour cues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75</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Token passes only once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hover state drops contrast</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Red/green only</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colour vision users lose status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Text on image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background changes under glyphs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Disabled too faint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essential text becomes unreadable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Contrast checker records each token pair</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Status remains understandable in grayscale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Lighthouse/axe result is attached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Validation error experience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76</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Input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user submits form</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Model binding</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converts named fields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Validation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adds errors to ModelState</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Summary/field</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renders actionable messages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Focus</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moves to summary or first invalid field</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Validation error experience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77</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&lt;span asp-validation-for="Input.Email"&gt;&lt;/span&gt;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&lt;div asp-validation-summary="ModelOnly" tabindex="-1"&gt;&lt;/div&gt;</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asp-validation-for</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field-specific message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asp-validation-summary</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page-level error collection</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aria-invalid</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marks failing input</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describedby</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associates message</a:t>
            </a:r>
          </a:p>
        </p:txBody>
      </p:sp>
      <p:sp>
        <p:nvSpPr>
          <p:cNvPr id="41" name="Rounded Rectangle 40"/>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Validation error experience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78</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asp-validation-for</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field-specific message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asp-validation-summary</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page-level error collection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aria-invalid</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marks failing input</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describedby</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associates message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Server check</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remains authoritative without JavaScript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Validation error experience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79</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Client-only</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bypassed request accepts invalid data</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Generic error</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user cannot identify repair</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Focus unchanged</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screen-reader user misses result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Values lost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failed post rebuilds an empty form</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Empty submit shows specific message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Error is associated with the field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Server rejects the same invalid payload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Lighthouse and axe evidence workflow</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80</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Build</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run the reviewed application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Navigate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load a stable test state</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Scan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execute Lighthouse and axe rules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Inspect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confirm each automated finding</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Retest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record fixed score and residual manual checks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Lighthouse and axe evidence workflow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81</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npx @axe-core/cli http://localhost:5000 --exit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Expected: 0 violations (manual checks still required)</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Automated</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finds detectable rule violations</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Manual</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keyboard, reading order and meaning</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Baseline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store score and violation IDs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Regression</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fail build on new serious violations</a:t>
            </a:r>
          </a:p>
        </p:txBody>
      </p:sp>
      <p:sp>
        <p:nvSpPr>
          <p:cNvPr id="41" name="Rounded Rectangle 40"/>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Lighthouse and axe evidence workflow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82</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Automated</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finds detectable rule violations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Manual</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keyboard, reading order and meaning</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Baseline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store score and violation IDs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Regression</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fail build on new serious violations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Evidence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HTML/JSON report plus screenshot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Lighthouse and axe evidence workflow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83</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False confidence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score was treated as full conformance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Flaky state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scan ran before page settled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Third-party noise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scope was not documented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baseline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regression cannot be distinguished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axe exits 0 for the target state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Manual keyboard checklist is signed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Report names URL, date and build SHA</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Prompt constraints for accessible output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84</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Requirement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names user and task</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Semantic constraint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requires native elements first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Interaction constraint</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defines keyboard/focus behaviour</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Evidence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names axe and manual acceptance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Review</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rejects ARIA added without need</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Prompt constraints for accessible output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85</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Prompt: Make Pages/Contacts/Create.cshtml keyboard complete.</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Use native controls; preserve label text.</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Acceptance: axe=0 and Tab→Enter submits.</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Files</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limit AI to the intended Razor/CSS files</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Standard</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reference WCAG outcome, not vague accessibility</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Prohibition</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clickable divs or positive tabindex</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Acceptance</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keyboard path plus automated scan</a:t>
            </a:r>
          </a:p>
        </p:txBody>
      </p:sp>
      <p:sp>
        <p:nvSpPr>
          <p:cNvPr id="43" name="Rounded Rectangle 42"/>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Prompt constraints for accessible output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86</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Files</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limit AI to the intended Razor/CSS files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Standard</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reference WCAG outcome, not vague accessibility</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Prohibition</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no clickable divs or positive tabindex</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Acceptance</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keyboard path plus automated scan</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Output</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request patch and rationale, not prose only</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Prompt constraints for accessible output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87</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Vague prompt</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model optimises appearance only</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ARIA cargo cult</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redundant roles conflict with native semantics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Hidden focus</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CSS reset removes outline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Untested claim</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AI says accessible without evidence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Diff uses native elements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Tab order matches DOM order</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Acceptance evidence is reproducible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MECHANISM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Git diff and review guardrails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88</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Checkpoint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commit or stash known-good state</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AI patch</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changes bounded files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Diff</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inspect code, packages and deletions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Checks</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format, build, tests and secret scan</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Commit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record intent and evidence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Git diff and review guardrails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89</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git diff --check</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format --verify-no-changes</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test</a:t>
            </a:r>
          </a:p>
        </p:txBody>
      </p:sp>
      <p:sp>
        <p:nvSpPr>
          <p:cNvPr id="19" name="TextBox 18"/>
          <p:cNvSpPr txBox="1"/>
          <p:nvPr/>
        </p:nvSpPr>
        <p:spPr>
          <a:xfrm>
            <a:off x="896112" y="310895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4</a:t>
            </a:r>
          </a:p>
        </p:txBody>
      </p:sp>
      <p:sp>
        <p:nvSpPr>
          <p:cNvPr id="20" name="TextBox 19"/>
          <p:cNvSpPr txBox="1"/>
          <p:nvPr/>
        </p:nvSpPr>
        <p:spPr>
          <a:xfrm>
            <a:off x="1307592" y="310895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git diff --name-only</a:t>
            </a:r>
          </a:p>
        </p:txBody>
      </p:sp>
      <p:sp>
        <p:nvSpPr>
          <p:cNvPr id="21" name="Rounded Rectangle 20"/>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5" name="TextBox 24"/>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git diff --stat</a:t>
            </a:r>
          </a:p>
        </p:txBody>
      </p:sp>
      <p:sp>
        <p:nvSpPr>
          <p:cNvPr id="26" name="TextBox 25"/>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detects unexpected breadth</a:t>
            </a:r>
          </a:p>
        </p:txBody>
      </p:sp>
      <p:sp>
        <p:nvSpPr>
          <p:cNvPr id="27" name="Rounded Rectangle 26"/>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31" name="TextBox 30"/>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git diff --check</a:t>
            </a:r>
          </a:p>
        </p:txBody>
      </p:sp>
      <p:sp>
        <p:nvSpPr>
          <p:cNvPr id="32" name="TextBox 31"/>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finds whitespace defects</a:t>
            </a:r>
          </a:p>
        </p:txBody>
      </p:sp>
      <p:sp>
        <p:nvSpPr>
          <p:cNvPr id="33" name="Rounded Rectangle 32"/>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7" name="TextBox 36"/>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dotnet format --verify-no-changes</a:t>
            </a:r>
          </a:p>
        </p:txBody>
      </p:sp>
      <p:sp>
        <p:nvSpPr>
          <p:cNvPr id="38" name="TextBox 37"/>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enforces style</a:t>
            </a:r>
          </a:p>
        </p:txBody>
      </p:sp>
      <p:sp>
        <p:nvSpPr>
          <p:cNvPr id="39" name="Rounded Rectangle 38"/>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3" name="TextBox 42"/>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dotnet test</a:t>
            </a:r>
          </a:p>
        </p:txBody>
      </p:sp>
      <p:sp>
        <p:nvSpPr>
          <p:cNvPr id="44" name="TextBox 43"/>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proves behavioural contract</a:t>
            </a:r>
          </a:p>
        </p:txBody>
      </p:sp>
      <p:sp>
        <p:nvSpPr>
          <p:cNvPr id="45" name="Rounded Rectangle 44"/>
          <p:cNvSpPr/>
          <p:nvPr/>
        </p:nvSpPr>
        <p:spPr>
          <a:xfrm>
            <a:off x="7342631" y="5724144"/>
            <a:ext cx="1234440" cy="292608"/>
          </a:xfrm>
          <a:prstGeom prst="round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 / A2</a:t>
            </a:r>
          </a:p>
        </p:txBody>
      </p:sp>
      <p:sp>
        <p:nvSpPr>
          <p:cNvPr id="47" name="TextBox 46"/>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Git diff and review guardrails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90</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git diff --stat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detects unexpected breadth</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git diff --check</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finds whitespace defects</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dotnet format --verify-no-changes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enforces style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dotnet test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proves behavioural contract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Secret scan</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blocks credentials before history</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2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Git diff and review guardrails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91</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Generated noise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bin/obj entered the diff</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Package surprise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AI added dependency without review</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Secret leak</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connection string was committed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Mixed commit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unrelated changes obscure review</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Only scoped source files changed</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All local gates exit 0</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Commit message links requirement and evidence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EDITABLE NATIVE CHART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LO2 evidence profile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92</a:t>
            </a:r>
          </a:p>
        </p:txBody>
      </p:sp>
      <p:graphicFrame>
        <p:nvGraphicFramePr>
          <p:cNvPr id="10" name="Chart 9"/>
          <p:cNvGraphicFramePr>
            <a:graphicFrameLocks noGrp="1"/>
          </p:cNvGraphicFramePr>
          <p:nvPr/>
        </p:nvGraphicFramePr>
        <p:xfrm>
          <a:off x="777240" y="1755648"/>
          <a:ext cx="6629400" cy="4069080"/>
        </p:xfrm>
        <a:graphic>
          <a:graphicData uri="http://schemas.openxmlformats.org/drawingml/2006/chart">
            <c:chart xmlns:c="http://schemas.openxmlformats.org/drawingml/2006/chart" r:id="rId2"/>
          </a:graphicData>
        </a:graphic>
      </p:graphicFrame>
      <p:sp>
        <p:nvSpPr>
          <p:cNvPr id="11" name="Rounded Rectangle 10"/>
          <p:cNvSpPr/>
          <p:nvPr/>
        </p:nvSpPr>
        <p:spPr>
          <a:xfrm>
            <a:off x="7726679" y="1755648"/>
            <a:ext cx="3767328" cy="4069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00400" cy="301752"/>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WHAT THE DATA SHOWS</a:t>
            </a:r>
          </a:p>
        </p:txBody>
      </p:sp>
      <p:sp>
        <p:nvSpPr>
          <p:cNvPr id="13" name="TextBox 12"/>
          <p:cNvSpPr txBox="1"/>
          <p:nvPr/>
        </p:nvSpPr>
        <p:spPr>
          <a:xfrm>
            <a:off x="8028431" y="2578608"/>
            <a:ext cx="3154680" cy="1051560"/>
          </a:xfrm>
          <a:prstGeom prst="rect">
            <a:avLst/>
          </a:prstGeom>
          <a:noFill/>
        </p:spPr>
        <p:txBody>
          <a:bodyPr wrap="square" lIns="27432" rIns="27432" tIns="27432" bIns="27432" anchor="t">
            <a:spAutoFit/>
          </a:bodyPr>
          <a:lstStyle/>
          <a:p>
            <a:pPr algn="l">
              <a:spcAft>
                <a:spcPts val="0"/>
              </a:spcAft>
            </a:pPr>
            <a:r>
              <a:rPr sz="1700" b="1">
                <a:solidFill>
                  <a:srgbClr val="161B26"/>
                </a:solidFill>
                <a:latin typeface="Arial"/>
              </a:rPr>
              <a:t>Automated evidence improves; manual keyboard checks still remain mandatory.</a:t>
            </a:r>
          </a:p>
        </p:txBody>
      </p:sp>
      <p:sp>
        <p:nvSpPr>
          <p:cNvPr id="14" name="TextBox 13"/>
          <p:cNvSpPr txBox="1"/>
          <p:nvPr/>
        </p:nvSpPr>
        <p:spPr>
          <a:xfrm>
            <a:off x="8028431" y="3977639"/>
            <a:ext cx="3154680" cy="123444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Worked-example values are illustrative evidence counts, not industry benchmarks. Edit the native chart with the class results.</a:t>
            </a:r>
          </a:p>
        </p:txBody>
      </p:sp>
      <p:sp>
        <p:nvSpPr>
          <p:cNvPr id="15" name="Rounded Rectangle 14"/>
          <p:cNvSpPr/>
          <p:nvPr/>
        </p:nvSpPr>
        <p:spPr>
          <a:xfrm>
            <a:off x="8028431" y="5321808"/>
            <a:ext cx="160020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EDITABLE CHART</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2 · HANDS-ON ACTIVITY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3: Build an Accessible Razor Pages Shell</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93</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55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Create semantic navigation, visible keyboard focus and a labelled customer-contact entry point.</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Inspect DOM</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Prompt semantics</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Implement shell</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Keyboard test</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Audit tree</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an accessible layout and Contacts index page with a reproducible keyboard checklist</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activities/activity-03-accessible-razor-shell/src/LocalCRM · full commands in the Learner Guide</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3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94</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Update the Razor layout and add Pages/Contacts/Index.cshtml. Use native header/nav/main/footer landmarks, one h1, descriptive link text and visible :focus-visible styles. No clickable divs, positive tabindex or ARIA when native HTML suffices.</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2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3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95</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an accessible layout and Contacts index page with a reproducible keyboard checklist.</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K2/A2 EVIDENCE</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2 · HANDS-ON ACTIVITY · LO2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Activity 4: Audit Accessibility with axe and Manual Evidence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96</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45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Create a repeatable automated-plus-manual accessibility gate for the running Razor Pages UI.</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Stabilise page</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Run axe</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Confirm finding</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Remediate</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Retest manually</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axe JSON evidence, a manual keyboard checklist and a reviewed remediation diff</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activities/activity-04-accessibility-audit/src/LocalCRM · full commands in the Learner Guide</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2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4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97</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Review the supplied axe findings and the Razor markup. Propose the smallest semantic fix for each confirmed violation. Do not suppress rules. State which outcomes still require manual keyboard or screen-reader checks.</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2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4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98</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axe JSON evidence, a manual keyboard checklist and a reviewed remediation diff.</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K2/A2 EVIDENCE</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LO2 · K2 / A2</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Topic 2 · Evidence Recap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99</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Architecture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the component boundary and owner.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Mechanism</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Trace the runtime/data flow in order.</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Contract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Point to fields, configuration, code or status semantics.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Failure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Recognise the named signal and likely cause.</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Verification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Produce repeatable command or UI evidence.</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Activity link</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cumulative LocalCRM snapshot for this LO.</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955279" cy="320040"/>
          </a:xfrm>
          <a:prstGeom prst="rect">
            <a:avLst/>
          </a:prstGeom>
          <a:noFill/>
        </p:spPr>
        <p:txBody>
          <a:bodyPr wrap="square" lIns="27432" rIns="27432" tIns="27432" bIns="27432" anchor="t">
            <a:spAutoFit/>
          </a:bodyPr>
          <a:lstStyle/>
          <a:p>
            <a:pPr algn="l">
              <a:spcAft>
                <a:spcPts val="0"/>
              </a:spcAft>
            </a:pPr>
            <a:r>
              <a:rPr sz="1500" b="1">
                <a:solidFill>
                  <a:srgbClr val="108A73"/>
                </a:solidFill>
                <a:latin typeface="Arial"/>
              </a:rPr>
              <a:t>TOPIC 3 · LO3 · K3 / A3</a:t>
            </a:r>
          </a:p>
        </p:txBody>
      </p:sp>
      <p:sp>
        <p:nvSpPr>
          <p:cNvPr id="6" name="TextBox 5"/>
          <p:cNvSpPr txBox="1"/>
          <p:nvPr/>
        </p:nvSpPr>
        <p:spPr>
          <a:xfrm>
            <a:off x="1280160" y="2606040"/>
            <a:ext cx="8778240" cy="914400"/>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Razor Pages Controls, Binding and Persistence</a:t>
            </a:r>
          </a:p>
        </p:txBody>
      </p:sp>
      <p:sp>
        <p:nvSpPr>
          <p:cNvPr id="7" name="TextBox 6"/>
          <p:cNvSpPr txBox="1"/>
          <p:nvPr/>
        </p:nvSpPr>
        <p:spPr>
          <a:xfrm>
            <a:off x="1280160" y="3794760"/>
            <a:ext cx="8778240" cy="594360"/>
          </a:xfrm>
          <a:prstGeom prst="rect">
            <a:avLst/>
          </a:prstGeom>
          <a:noFill/>
        </p:spPr>
        <p:txBody>
          <a:bodyPr wrap="square" lIns="27432" rIns="27432" tIns="27432" bIns="27432" anchor="t">
            <a:spAutoFit/>
          </a:bodyPr>
          <a:lstStyle/>
          <a:p>
            <a:pPr algn="l">
              <a:spcAft>
                <a:spcPts val="0"/>
              </a:spcAft>
            </a:pPr>
            <a:r>
              <a:rPr sz="1500" b="0">
                <a:solidFill>
                  <a:srgbClr val="5B6372"/>
                </a:solidFill>
                <a:latin typeface="Arial"/>
              </a:rPr>
              <a:t>page-focused UI → binding and validation → antiforgery → durable state</a:t>
            </a:r>
          </a:p>
        </p:txBody>
      </p:sp>
      <p:sp>
        <p:nvSpPr>
          <p:cNvPr id="8" name="TextBox 7"/>
          <p:cNvSpPr txBox="1"/>
          <p:nvPr/>
        </p:nvSpPr>
        <p:spPr>
          <a:xfrm>
            <a:off x="9509760" y="2057400"/>
            <a:ext cx="1417320" cy="1097280"/>
          </a:xfrm>
          <a:prstGeom prst="rect">
            <a:avLst/>
          </a:prstGeom>
          <a:noFill/>
        </p:spPr>
        <p:txBody>
          <a:bodyPr wrap="square" lIns="27432" rIns="27432" tIns="27432" bIns="27432" anchor="t">
            <a:spAutoFit/>
          </a:bodyPr>
          <a:lstStyle/>
          <a:p>
            <a:pPr algn="r">
              <a:spcAft>
                <a:spcPts val="0"/>
              </a:spcAft>
            </a:pPr>
            <a:r>
              <a:rPr sz="7200" b="1">
                <a:solidFill>
                  <a:srgbClr val="D7E0EA"/>
                </a:solidFill>
                <a:latin typeface="Arial"/>
              </a:rPr>
              <a:t>03</a:t>
            </a:r>
          </a:p>
        </p:txBody>
      </p:sp>
      <p:sp>
        <p:nvSpPr>
          <p:cNvPr id="9" name="TextBox 8"/>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10" name="TextBox 9"/>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100</a:t>
            </a:r>
          </a:p>
        </p:txBody>
      </p:sp>
    </p:spTree>
  </p:cSld>
  <p:clrMapOvr>
    <a:masterClrMapping/>
  </p:clrMapOvr>
  <p:transition spd="med">
    <p:push/>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 execution model</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101</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Route</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selects a .cshtml page</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PageModel</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is created through DI</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Handler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OnGet/OnPost executes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ModelState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holds conversion and validation</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Razor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renders HTML response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 execution model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102</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class CreateModel(IContactStore store) : PageModel</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public void OnGet() { }</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public async Task&lt;IActionResult&gt; OnPostAsync() { /*...*/ } }</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.cshtml</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markup plus directives and Tag Helpers</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.cshtml.cs</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page handlers and input model</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OnGet</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safe read path</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OnPost</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form mutation path</a:t>
            </a:r>
          </a:p>
        </p:txBody>
      </p:sp>
      <p:sp>
        <p:nvSpPr>
          <p:cNvPr id="43" name="Rounded Rectangle 42"/>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 execution model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103</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.cshtml</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markup plus directives and Tag Helpers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.cshtml.cs</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page handlers and input model</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OnGet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safe read path</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OnPost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form mutation path</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IActionResult</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redirect, page or status result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 execution model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104</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Handler not called</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method/name convention mismatched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Null service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DI registration missing</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Double submit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post returned Page instead of PRG redirect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Logic in view</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separation of concerns collapsed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GET selects OnGet</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POST selects OnPostAsync</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Successful POST redirects to index</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Pages routing conventions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105</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Pages root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defines route discovery</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Folder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contributes URL segment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Index.cshtml</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maps to folder root</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@page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makes the file an endpoint</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Route values</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bind named path parameters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Pages routing conventions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106</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@page "{id:int}"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&lt;a asp-page="./Details" asp-route-id="@item.Id"&gt;View&lt;/a&gt;</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/Pages/Contacts/Index.cshtml</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route /Contacts</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@page "{id:int}"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typed route constraint</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asp-page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generates page URL</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asp-route-id</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adds route value</a:t>
            </a:r>
          </a:p>
        </p:txBody>
      </p:sp>
      <p:sp>
        <p:nvSpPr>
          <p:cNvPr id="41" name="Rounded Rectangle 40"/>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Pages routing conventions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107</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/Pages/Contacts/Index.cshtml</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route /Contacts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@page "{id:int}"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typed route constraint</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asp-page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generates page URL</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asp-route-id</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adds route value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Areas</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partition larger applications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Razor Pages routing conventions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108</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404</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@page is missing or path is wrong</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Ambiguous link</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relative page path resolves elsewhere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String id</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route constraint was omitted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Hardcoded URL</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renaming page breaks navigation</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LinkGenerator produces /Contacts/42</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Non-integer id does not match</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Renaming folder requires no hardcoded href edit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Service boundary behind the PageModel</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109</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PageModel</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owns HTTP/UI concerns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IContactStore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declares use-case operations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Implementation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owns data access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DbContext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tracks persistence state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Database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enforces durable constraints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Service boundary behind the PageModel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110</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interface IContactStore</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Task&lt;int&gt; AddAsync(NewContact input, CancellationToken ct);</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Task&lt;IReadOnlyList&lt;ContactRow&gt;&gt; ListAsync(CancellationToken ct); }</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Interface</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Task&lt;List&lt;CustomerContact&gt;&gt; ListAsync</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Cancellation</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accept RequestAborted token</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DTO/ViewModel</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limits exposed fields</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Scoped lifetime</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one DbContext per request</a:t>
            </a:r>
          </a:p>
        </p:txBody>
      </p:sp>
      <p:sp>
        <p:nvSpPr>
          <p:cNvPr id="43" name="Rounded Rectangle 42"/>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Service boundary behind the PageModel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111</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Interface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Task&lt;List&lt;CustomerContact&gt;&gt; ListAsync</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Cancellation</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accept RequestAborted token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DTO/ViewModel</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limits exposed fields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Scoped lifetime</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one DbContext per request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No static state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supports concurrent requests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Service boundary behind the PageModel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112</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Fat PageModel</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SQL and presentation logic are mixed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Static list</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data races and restart loss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Sync-over-async</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.Result can block request threads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Leaky entity</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persistence shape becomes public contract</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PageModel unit test substitutes IContactStore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Cancellation reaches EF Core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Concurrent requests do not share mutable list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Model binding input sources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113</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Value providers</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inspect route, query and form</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Binder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converts text to CLR types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Input model</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receives allowed fields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ModelState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records conversion errors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Handler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uses input only after validation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Model binding input sources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114</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[BindProperty] public NewContact Input { get; set; } = new();</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sealed record NewContact(string Summary, string Category);</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[BindProperty]</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binds form property for non-GET by default</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SupportsGet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explicitly allows GET property binding</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TryParse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controls custom conversion</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Prefix</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matches nested field names</a:t>
            </a:r>
          </a:p>
        </p:txBody>
      </p:sp>
      <p:sp>
        <p:nvSpPr>
          <p:cNvPr id="41" name="Rounded Rectangle 40"/>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Model binding input sources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115</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[BindProperty]</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binds form property for non-GET by default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SupportsGet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explicitly allows GET property binding</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TryParse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controls custom conversion</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Prefix</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matches nested field names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Overposting</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prevented by dedicated input model</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Model binding input sources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116</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Default values</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conversion error was ignored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Overposting</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entity was bound directly</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prefix</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form name does not match property path</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GET mutation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SupportsGet was misused for a command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Invalid integer creates ModelState error</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Unexpected form field is ignored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Valid form populates only NewContact fields</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DataAnnotations and server validation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117</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Bind</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constructs input model</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Attributes</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evaluate required/range/length rules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ModelState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collects all failures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Handler guard</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Page on invalid state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Store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runs only after validation succeeds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DataAnnotations and server validation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118</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[Required, EmailAddress]</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string Email { get; init; } = string.Empty;</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[Required]</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rejects missing/empty value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[StringLength]</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sets bounded text contract</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[Range]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sets numeric limits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IValidatableObject</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supports cross-field rule</a:t>
            </a:r>
          </a:p>
        </p:txBody>
      </p:sp>
      <p:sp>
        <p:nvSpPr>
          <p:cNvPr id="41" name="Rounded Rectangle 40"/>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DataAnnotations and server validation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119</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[Required]</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rejects missing/empty value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[StringLength]</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sets bounded text contract</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[Range]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sets numeric limits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IValidatableObject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supports cross-field rule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Database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still enforces storage constraints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DataAnnotations and server validation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120</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Client bypass</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server guard was omitted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Mismatched length</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UI and database limits differ</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Opaque message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default error lacks recovery guidance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rule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business validation diverges across endpoints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4-character summary is rejected</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120-character summary succeeds</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Store mock receives no call for invalid input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Tag Helpers generate consistent controls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121</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Razor parser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recognises asp-* attributes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Metadata</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reads model type and validation</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Tag Helper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generates name/id/value attributes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Antiforgery</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injects form token</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Browser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submits names binder expects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Tag Helpers generate consistent controls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122</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&lt;label asp-for="Input.Email"&gt;&lt;/label&gt;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&lt;input asp-for="Input.Email" /&gt;</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&lt;span asp-validation-for="Input.Email"&gt;&lt;/span&gt;</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asp-for</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binds label/input/message to one expression</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asp-page</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generates route-aware URL</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asp-validation-for</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renders ModelState error</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form method=post</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participates in antiforgery</a:t>
            </a:r>
          </a:p>
        </p:txBody>
      </p:sp>
      <p:sp>
        <p:nvSpPr>
          <p:cNvPr id="43" name="Rounded Rectangle 42"/>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Tag Helpers generate consistent controls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123</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asp-for</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binds label/input/message to one expression</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asp-page</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generates route-aware URL</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asp-validation-for</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renders ModelState error</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form method=post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participates in antiforgery</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partial</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reuses reviewed markup</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Tag Helpers generate consistent controls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124</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Manual name drift</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binder receives no value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id</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labels and errors bind incorrectly</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Raw URL</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route refactor breaks link</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Missing partial</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validation scripts never load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Rendered label for equals input id</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Invalid POST redisplays message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Generated form contains antiforgery token</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Antiforgery request validation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125</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GET form</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server emits token pair</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Browser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stores cookie and hidden field</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POST</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submits both tokens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Middleware/filter</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validates cryptographic match</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Handler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runs only after validation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Antiforgery request validation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126</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&lt;form method="post"&gt; &lt;!-- FormTagHelper emits token --&gt;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&lt;button type="submit"&gt;Create&lt;/button&gt;</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&lt;/form&gt;</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Cookie</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bound to browser session context</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Request token</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hidden form value/header</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SameSite</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reduces cross-site cookie sending</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POST/PUT/DELETE</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unsafe methods require protection</a:t>
            </a:r>
          </a:p>
        </p:txBody>
      </p:sp>
      <p:sp>
        <p:nvSpPr>
          <p:cNvPr id="43" name="Rounded Rectangle 42"/>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Antiforgery request validation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127</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Cookie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bound to browser session context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Request token</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hidden form value/header</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SameSite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reduces cross-site cookie sending</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POST/PUT/DELETE</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unsafe methods require protection</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API auth</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bearer-token APIs use different CSRF analysis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Antiforgery request validation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128</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400</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token pair is absent or invalid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Token disabled</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cross-site form can execute command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Mixed auth</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cookie API assumed bearer semantics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Cached form</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stale token/cookie pair no longer matches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POST without token returns 400</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Normal browser POST succeeds</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Unsafe cookie-auth endpoints are inventoried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MECHANISM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EF Core SQLite persistence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129</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Page/API</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calls store abstraction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DbContext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tracks entity changes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Provider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translates LINQ to SQL</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SQLite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executes transaction</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SaveChanges</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affected rows/identity</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EF Core SQLite persistence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130</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builder.Services.AddDbContext&lt;CrmDbContext&gt;(o =&gt;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o.UseSqlite(builder.Configuration.GetConnectionString("LocalCRM")));</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DbSet</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query and mutation entry point</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Migration</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versioned schema change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AsNoTracking</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read-only query optimisation</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Async</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does not block while I/O waits</a:t>
            </a:r>
          </a:p>
        </p:txBody>
      </p:sp>
      <p:sp>
        <p:nvSpPr>
          <p:cNvPr id="41" name="Rounded Rectangle 40"/>
          <p:cNvSpPr/>
          <p:nvPr/>
        </p:nvSpPr>
        <p:spPr>
          <a:xfrm>
            <a:off x="7342631" y="5724144"/>
            <a:ext cx="123444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 / A3</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EF Core SQLite persistence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131</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DbSet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query and mutation entry point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Migration</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versioned schema change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AsNoTracking</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read-only query optimisation</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Async</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does not block while I/O waits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Constraint</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database protects required/unique rules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3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EF Core SQLite persistence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132</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database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migration was never applied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Locked</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long SQLite transaction blocks writer</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N+1</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navigation query issues repeated SQL</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Schema drift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manual DB change bypassed migration</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dotnet ef database update succeeds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Create survives application restart</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Integration test uses an isolated database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EDITABLE NATIVE CHART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LO3 evidence profile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133</a:t>
            </a:r>
          </a:p>
        </p:txBody>
      </p:sp>
      <p:graphicFrame>
        <p:nvGraphicFramePr>
          <p:cNvPr id="10" name="Chart 9"/>
          <p:cNvGraphicFramePr>
            <a:graphicFrameLocks noGrp="1"/>
          </p:cNvGraphicFramePr>
          <p:nvPr/>
        </p:nvGraphicFramePr>
        <p:xfrm>
          <a:off x="777240" y="1755648"/>
          <a:ext cx="6629400" cy="4069080"/>
        </p:xfrm>
        <a:graphic>
          <a:graphicData uri="http://schemas.openxmlformats.org/drawingml/2006/chart">
            <c:chart xmlns:c="http://schemas.openxmlformats.org/drawingml/2006/chart" r:id="rId2"/>
          </a:graphicData>
        </a:graphic>
      </p:graphicFrame>
      <p:sp>
        <p:nvSpPr>
          <p:cNvPr id="11" name="Rounded Rectangle 10"/>
          <p:cNvSpPr/>
          <p:nvPr/>
        </p:nvSpPr>
        <p:spPr>
          <a:xfrm>
            <a:off x="7726679" y="1755648"/>
            <a:ext cx="3767328" cy="4069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00400" cy="301752"/>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WHAT THE DATA SHOWS</a:t>
            </a:r>
          </a:p>
        </p:txBody>
      </p:sp>
      <p:sp>
        <p:nvSpPr>
          <p:cNvPr id="13" name="TextBox 12"/>
          <p:cNvSpPr txBox="1"/>
          <p:nvPr/>
        </p:nvSpPr>
        <p:spPr>
          <a:xfrm>
            <a:off x="8028431" y="2578608"/>
            <a:ext cx="3154680" cy="1051560"/>
          </a:xfrm>
          <a:prstGeom prst="rect">
            <a:avLst/>
          </a:prstGeom>
          <a:noFill/>
        </p:spPr>
        <p:txBody>
          <a:bodyPr wrap="square" lIns="27432" rIns="27432" tIns="27432" bIns="27432" anchor="t">
            <a:spAutoFit/>
          </a:bodyPr>
          <a:lstStyle/>
          <a:p>
            <a:pPr algn="l">
              <a:spcAft>
                <a:spcPts val="0"/>
              </a:spcAft>
            </a:pPr>
            <a:r>
              <a:rPr sz="1700" b="1">
                <a:solidFill>
                  <a:srgbClr val="161B26"/>
                </a:solidFill>
                <a:latin typeface="Arial"/>
              </a:rPr>
              <a:t>Server validation and antiforgery close unsafe input paths.</a:t>
            </a:r>
          </a:p>
        </p:txBody>
      </p:sp>
      <p:sp>
        <p:nvSpPr>
          <p:cNvPr id="14" name="TextBox 13"/>
          <p:cNvSpPr txBox="1"/>
          <p:nvPr/>
        </p:nvSpPr>
        <p:spPr>
          <a:xfrm>
            <a:off x="8028431" y="3977639"/>
            <a:ext cx="3154680" cy="123444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Worked-example values are illustrative evidence counts, not industry benchmarks. Edit the native chart with the class results.</a:t>
            </a:r>
          </a:p>
        </p:txBody>
      </p:sp>
      <p:sp>
        <p:nvSpPr>
          <p:cNvPr id="15" name="Rounded Rectangle 14"/>
          <p:cNvSpPr/>
          <p:nvPr/>
        </p:nvSpPr>
        <p:spPr>
          <a:xfrm>
            <a:off x="8028431" y="5321808"/>
            <a:ext cx="160020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EDITABLE CHART</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HANDS-ON ACTIVITY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Activity 5: Create and List CRM Contacts with Razor Pages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134</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65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Implement page-focused create/list handlers through an injectable contact store.</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Define input</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Create service</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Bind form</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Persist command</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Redirect and list</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input model, IContactStore boundary, create/list PageModels and successful PRG navigation</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activities/activity-05-razor-create-list/src/LocalCRM · full commands in the Learner Guide</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3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5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135</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Implement REQ-001 and REQ-002 with Razor Pages. Introduce IContactStore and an in-memory implementation registered as singleton for this temporary Activity only. Use a dedicated NewContact input model and Post/Redirect/Get. Limit changes to Models, Services, Pages/Contacts and Program.cs.</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3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5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136</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input model, IContactStore boundary, create/list PageModels and successful PRG navigation.</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K3/A3 EVIDENCE</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3 · HANDS-ON ACTIVITY · LO3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6: Enforce Validation and Antiforgery Controls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137</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50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Reject invalid or forged commands while returning accessible recovery guidance.</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Define bounds</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Render helpers</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Reject invalid</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Test token</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Record evidence</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bounded DataAnnotations, field/summary errors, antiforgery proof and negative-path tests</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activities/activity-06-validation-and-antiforgery/src/LocalCRM · full commands in the Learner Guide</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3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6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138</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Harden the Create Razor Page. Name is required (2–80 characters), Email is required and valid, and Stage is Lead, Qualified or Customer. Add accessible field errors and validation summary. Preserve automatic antiforgery and add tests for invalid input and missing token.</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3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6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139</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bounded DataAnnotations, field/summary errors, antiforgery proof and negative-path tests.</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K3/A3 EVIDENCE</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LO3 · K3 / A3</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Topic 3 · Evidence Recap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140</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Architecture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the component boundary and owner.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Mechanism</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Trace the runtime/data flow in order.</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Contract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Point to fields, configuration, code or status semantics.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Failure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Recognise the named signal and likely cause.</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Verification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Produce repeatable command or UI evidence.</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Activity link</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cumulative LocalCRM snapshot for this LO.</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955279" cy="320040"/>
          </a:xfrm>
          <a:prstGeom prst="rect">
            <a:avLst/>
          </a:prstGeom>
          <a:noFill/>
        </p:spPr>
        <p:txBody>
          <a:bodyPr wrap="square" lIns="27432" rIns="27432" tIns="27432" bIns="27432" anchor="t">
            <a:spAutoFit/>
          </a:bodyPr>
          <a:lstStyle/>
          <a:p>
            <a:pPr algn="l">
              <a:spcAft>
                <a:spcPts val="0"/>
              </a:spcAft>
            </a:pPr>
            <a:r>
              <a:rPr sz="1500" b="1">
                <a:solidFill>
                  <a:srgbClr val="16845B"/>
                </a:solidFill>
                <a:latin typeface="Arial"/>
              </a:rPr>
              <a:t>TOPIC 4 · LO4 · K4 / A4</a:t>
            </a:r>
          </a:p>
        </p:txBody>
      </p:sp>
      <p:sp>
        <p:nvSpPr>
          <p:cNvPr id="6" name="TextBox 5"/>
          <p:cNvSpPr txBox="1"/>
          <p:nvPr/>
        </p:nvSpPr>
        <p:spPr>
          <a:xfrm>
            <a:off x="1280160" y="2606040"/>
            <a:ext cx="8778240" cy="914400"/>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Controller APIs and Component Interoperability</a:t>
            </a:r>
          </a:p>
        </p:txBody>
      </p:sp>
      <p:sp>
        <p:nvSpPr>
          <p:cNvPr id="7" name="TextBox 6"/>
          <p:cNvSpPr txBox="1"/>
          <p:nvPr/>
        </p:nvSpPr>
        <p:spPr>
          <a:xfrm>
            <a:off x="1280160" y="3794760"/>
            <a:ext cx="8778240" cy="594360"/>
          </a:xfrm>
          <a:prstGeom prst="rect">
            <a:avLst/>
          </a:prstGeom>
          <a:noFill/>
        </p:spPr>
        <p:txBody>
          <a:bodyPr wrap="square" lIns="27432" rIns="27432" tIns="27432" bIns="27432" anchor="t">
            <a:spAutoFit/>
          </a:bodyPr>
          <a:lstStyle/>
          <a:p>
            <a:pPr algn="l">
              <a:spcAft>
                <a:spcPts val="0"/>
              </a:spcAft>
            </a:pPr>
            <a:r>
              <a:rPr sz="1500" b="0">
                <a:solidFill>
                  <a:srgbClr val="5B6372"/>
                </a:solidFill>
                <a:latin typeface="Arial"/>
              </a:rPr>
              <a:t>resource contract → controller boundary → persistence → observable HTTP evidence</a:t>
            </a:r>
          </a:p>
        </p:txBody>
      </p:sp>
      <p:sp>
        <p:nvSpPr>
          <p:cNvPr id="8" name="TextBox 7"/>
          <p:cNvSpPr txBox="1"/>
          <p:nvPr/>
        </p:nvSpPr>
        <p:spPr>
          <a:xfrm>
            <a:off x="9509760" y="2057400"/>
            <a:ext cx="1417320" cy="1097280"/>
          </a:xfrm>
          <a:prstGeom prst="rect">
            <a:avLst/>
          </a:prstGeom>
          <a:noFill/>
        </p:spPr>
        <p:txBody>
          <a:bodyPr wrap="square" lIns="27432" rIns="27432" tIns="27432" bIns="27432" anchor="t">
            <a:spAutoFit/>
          </a:bodyPr>
          <a:lstStyle/>
          <a:p>
            <a:pPr algn="r">
              <a:spcAft>
                <a:spcPts val="0"/>
              </a:spcAft>
            </a:pPr>
            <a:r>
              <a:rPr sz="7200" b="1">
                <a:solidFill>
                  <a:srgbClr val="D7E0EA"/>
                </a:solidFill>
                <a:latin typeface="Arial"/>
              </a:rPr>
              <a:t>04</a:t>
            </a:r>
          </a:p>
        </p:txBody>
      </p:sp>
      <p:sp>
        <p:nvSpPr>
          <p:cNvPr id="9" name="TextBox 8"/>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10" name="TextBox 9"/>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141</a:t>
            </a:r>
          </a:p>
        </p:txBody>
      </p:sp>
    </p:spTree>
  </p:cSld>
  <p:clrMapOvr>
    <a:masterClrMapping/>
  </p:clrMapOvr>
  <p:transition spd="med">
    <p:push/>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Resource-oriented HTTP semantics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142</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Client intent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chooses safe/idempotent operation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Route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names resource collection/item</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Controller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maps verb to action</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Store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reads or changes state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Representation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status, headers and JSON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Resource-oriented HTTP semantics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143</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[ApiController]</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[Route("api/contacts")]</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sealed class ContactsController : ControllerBase { }</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GET /api/contacts</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list; safe and idempotent</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POST /api/contacts</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create; not inherently idempotent</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GET /api/contacts/{id}</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one</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PUT /api/contacts/{id}</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replace; idempotent</a:t>
            </a:r>
          </a:p>
        </p:txBody>
      </p:sp>
      <p:sp>
        <p:nvSpPr>
          <p:cNvPr id="43" name="Rounded Rectangle 42"/>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Resource-oriented HTTP semantics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144</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GET /api/contacts</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list; safe and idempotent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POST /api/contacts</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create; not inherently idempotent</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GET /api/contacts/{id}</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read one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PUT /api/contacts/{id}</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replace; idempotent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DELETE /api/contacts/{id}</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remove; idempotent outcome</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Resource-oriented HTTP semantics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145</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Verb tunnel</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all commands use POST without semantics</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Noun mismatch</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route describes implementation, not resource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GET mutates</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caches/retries can change state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Location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client cannot find created resource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OpenAPI lists five intended operations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GET never changes row count</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POST returns 201 and Location header</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Controller routing and action selection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146</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Endpoint routing</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matches controller route tokens</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Constraint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filters by verb and parameter type</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Action descriptor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selects one candidate</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Model binding</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supplies arguments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Action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ActionResult</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Controller routing and action selection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147</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[HttpGet("{id:int}", Name = "GetContact")]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async Task&lt;ActionResult&lt;ContactDto&gt;&gt; Get(int id) { /*...*/ }</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[Route]</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controller-level path prefix</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[HttpGet("{id:int}")]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verb plus constrained template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[FromRoute]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explicit path source</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CreatedAtAction</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generates canonical item URL</a:t>
            </a:r>
          </a:p>
        </p:txBody>
      </p:sp>
      <p:sp>
        <p:nvSpPr>
          <p:cNvPr id="41" name="Rounded Rectangle 40"/>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Controller routing and action selection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148</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[Route]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controller-level path prefix</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[HttpGet("{id:int}")]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verb plus constrained template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[FromRoute]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explicit path source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CreatedAtAction</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generates canonical item URL</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Name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supports stable link generation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Controller routing and action selection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149</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AmbiguousMatch</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two actions share equivalent route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404</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constraint rejects supplied id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URL</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CreatedAtAction route values do not match</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Leaked action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public method lacks NonAction/verb attribute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Route table has no duplicate method+path</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id=abc produces 404</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Location URL resolves to the new representation</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DTO and domain boundary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150</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JSON</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deserialises into request DTO</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Validation</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checks transport contract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Mapping</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creates domain command/entity</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Store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persists allowed fields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Response DTO</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stable public shape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DTO and domain boundary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151</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public sealed record CreateContactDto(</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[Required, StringLength(80)] string Name,</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[Required, EmailAddress] string Email, string Stage);</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CreateContactDto</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client-settable fields only</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ContactDto</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id/status/timestamps safe to expose</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Entity</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persistence and domain state</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Mapping</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explicit code makes changes reviewable</a:t>
            </a:r>
          </a:p>
        </p:txBody>
      </p:sp>
      <p:sp>
        <p:nvSpPr>
          <p:cNvPr id="43" name="Rounded Rectangle 42"/>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DTO and domain boundary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152</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CreateContactDto</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client-settable fields only</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ContactDto</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id/status/timestamps safe to expose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Entity</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persistence and domain state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Mapping</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explicit code makes changes reviewable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Versioning</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contract change is deliberate</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DTO and domain boundary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153</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Mass assignment</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entity is accepted directly</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Circular JSON</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navigation properties leak</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Contract drift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database rename breaks clients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Sensitive field</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internal note appears in response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Unknown JSON property is handled by policy</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Response excludes internal fields</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Mapping test covers every public property</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API model binding and automatic 400</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154</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Input formatter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reads application/json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Deserializer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constructs DTO</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Validation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evaluates DataAnnotations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ApiController</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short-circuits invalid ModelState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ProblemDetails</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returns machine-readable error</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API model binding and automatic 400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155</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curl -i -X POST /api/contacts \</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-H "Content-Type: application/json" -d "{\"summary\":\"\"}"</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Content-Type</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must select JSON input formatter</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400</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syntactically valid but contract-invalid</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415</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unsupported media type</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ValidationProblemDetails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errors keyed by field</a:t>
            </a:r>
          </a:p>
        </p:txBody>
      </p:sp>
      <p:sp>
        <p:nvSpPr>
          <p:cNvPr id="41" name="Rounded Rectangle 40"/>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API model binding and automatic 400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156</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Content-Type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must select JSON input formatter</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400</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syntactically valid but contract-invalid</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415</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unsupported media type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ValidationProblemDetails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errors keyed by field</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Nullable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requiredness should be explicit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API model binding and automatic 400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157</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400 hidden</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client ignores ProblemDetails body</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415</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Content-Type header is missing/wrong</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Empty object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nullable/default contract too permissive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Exception</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custom binder throws instead of reporting error</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Invalid DTO returns application/problem+json</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Error dictionary names summary</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Controller action is not invoked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CRUD status and concurrency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158</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Read version</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client receives current ETag/version</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Edit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client sends If-Match/version</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Store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updates only matching version</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Conflict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zero rows signals stale write</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Recover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client reloads and resolves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CRUD status and concurrency contract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159</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if (dto.Version != entity.Version)</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return Conflict(new ProblemDetails { Title = "Stale contact" });</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200</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successful read/update with body</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201</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created with Location</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204</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successful delete without body</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404</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resource absent</a:t>
            </a:r>
          </a:p>
        </p:txBody>
      </p:sp>
      <p:sp>
        <p:nvSpPr>
          <p:cNvPr id="41" name="Rounded Rectangle 40"/>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CRUD status and concurrency contract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160</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200</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successful read/update with body</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201</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created with Location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204</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successful delete without body</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404</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resource absent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409/412</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state conflict/precondition failed</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CRUD status and concurrency contract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161</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Lost update</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last writer silently overwrites</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200</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missing resource returns success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Duplicate create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retry creates second record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204 with body</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response violates its status semantics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Stale update produces 409/412</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Delete missing id produces 404</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Create provides resolvable Location</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Async EF Core API path</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162</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Controller</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accepts RequestAborted</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LINQ</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builds IQueryable</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Provider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translates expression to SQL</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Database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performs asynchronous I/O</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DTO projection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materialises only required columns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Async EF Core API path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163</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var rows = await db.Contacts.AsNoTracking()</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.Select(x =&gt; new ContactDto(x.Id, x.Name, x.Email, x.Stage))</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.ToListAsync(ct);</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ToListAsync</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executes query asynchronously</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Select</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projects before materialisation</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AsNoTracking</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avoids change tracker for reads</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CancellationToken</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stops abandoned work</a:t>
            </a:r>
          </a:p>
        </p:txBody>
      </p:sp>
      <p:sp>
        <p:nvSpPr>
          <p:cNvPr id="43" name="Rounded Rectangle 42"/>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Async EF Core API path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164</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ToListAsync</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executes query asynchronously</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Select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projects before materialisation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AsNoTracking</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avoids change tracker for reads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CancellationToken</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stops abandoned work</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SaveChangesAsync</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persists transaction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Async EF Core API path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165</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Client eval</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expression cannot translate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Over-fetch</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entity graph is loaded unnecessarily</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cancellation</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work continues after disconnect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Parallel DbContext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same context is used concurrently</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SQL log selects only DTO columns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Cancelled request ends query</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Load test shows no sync blocking hotspot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OpenAPI as interoperability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166</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Endpoints</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expose route and metadata</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Generator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builds OpenAPI document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Schema</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describes DTO types and validation</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Client/tool</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generates calls or UI</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Contract test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detects breaking change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OpenAPI as interoperability contract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167</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builder.Services.AddOpenApi();</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if (app.Environment.IsDevelopment()) app.MapOpenApi();</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paths</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method and route operations</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operationId</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stable generated-client method</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components/schemas</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reusable JSON shapes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responses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document every intended status</a:t>
            </a:r>
          </a:p>
        </p:txBody>
      </p:sp>
      <p:sp>
        <p:nvSpPr>
          <p:cNvPr id="41" name="Rounded Rectangle 40"/>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OpenAPI as interoperability contract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168</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paths</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method and route operations</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operationId</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stable generated-client method</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components/schemas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reusable JSON shapes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responses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document every intended status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securitySchemes</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declares authentication mechanism</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OpenAPI as interoperability contract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169</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Undocumented status</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client cannot model failure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Schema leak</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entity exposes internal fields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Breaking rename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generated client no longer compiles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Prod exposure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interactive docs reveal attack surface</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openapi.json validates</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Snapshot diff contains no accidental breaking change</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201/400/404 schemas are declared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MECHANISM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Integration tests and ProblemDetails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170</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WebApplicationFactory</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starts in-memory test host</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HttpClient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sends real HTTP request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Pipeline</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routing/binding/filters execute</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Test store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isolates deterministic data</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Assertion</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checks status, headers and JSON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Integration tests and ProblemDetails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171</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var response = await client.PostAsJsonAsync("/api/contacts", new { summary = "" });</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Assert.Equal(HttpStatusCode.BadRequest, response.StatusCode);</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Arrange</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seed isolated database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Act</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call public endpoint only</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Assert</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status + content type + shape</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ProblemDetails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stable error envelope</a:t>
            </a:r>
          </a:p>
        </p:txBody>
      </p:sp>
      <p:sp>
        <p:nvSpPr>
          <p:cNvPr id="41" name="Rounded Rectangle 40"/>
          <p:cNvSpPr/>
          <p:nvPr/>
        </p:nvSpPr>
        <p:spPr>
          <a:xfrm>
            <a:off x="7342631" y="5724144"/>
            <a:ext cx="123444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 / A4</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Integration tests and ProblemDetails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172</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Arrange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seed isolated database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Act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call public endpoint only</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Assert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status + content type + shape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ProblemDetails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stable error envelope</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Trace id</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links client failure to server log</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4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Integration tests and ProblemDetails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173</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Unit-only</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middleware/routing regression is invisible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Shared DB</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tests affect each other</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Body-only</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wrong status still passes</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Stack trace leak</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error response exposes internals</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Happy and invalid paths run through HTTP</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ProblemDetails contains traceId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Tests pass in parallel with isolated state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EDITABLE NATIVE CHART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LO4 evidence profile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174</a:t>
            </a:r>
          </a:p>
        </p:txBody>
      </p:sp>
      <p:graphicFrame>
        <p:nvGraphicFramePr>
          <p:cNvPr id="10" name="Chart 9"/>
          <p:cNvGraphicFramePr>
            <a:graphicFrameLocks noGrp="1"/>
          </p:cNvGraphicFramePr>
          <p:nvPr/>
        </p:nvGraphicFramePr>
        <p:xfrm>
          <a:off x="777240" y="1755648"/>
          <a:ext cx="6629400" cy="4069080"/>
        </p:xfrm>
        <a:graphic>
          <a:graphicData uri="http://schemas.openxmlformats.org/drawingml/2006/chart">
            <c:chart xmlns:c="http://schemas.openxmlformats.org/drawingml/2006/chart" r:id="rId2"/>
          </a:graphicData>
        </a:graphic>
      </p:graphicFrame>
      <p:sp>
        <p:nvSpPr>
          <p:cNvPr id="11" name="Rounded Rectangle 10"/>
          <p:cNvSpPr/>
          <p:nvPr/>
        </p:nvSpPr>
        <p:spPr>
          <a:xfrm>
            <a:off x="7726679" y="1755648"/>
            <a:ext cx="3767328" cy="4069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00400" cy="301752"/>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WHAT THE DATA SHOWS</a:t>
            </a:r>
          </a:p>
        </p:txBody>
      </p:sp>
      <p:sp>
        <p:nvSpPr>
          <p:cNvPr id="13" name="TextBox 12"/>
          <p:cNvSpPr txBox="1"/>
          <p:nvPr/>
        </p:nvSpPr>
        <p:spPr>
          <a:xfrm>
            <a:off x="8028431" y="2578608"/>
            <a:ext cx="3154680" cy="1051560"/>
          </a:xfrm>
          <a:prstGeom prst="rect">
            <a:avLst/>
          </a:prstGeom>
          <a:noFill/>
        </p:spPr>
        <p:txBody>
          <a:bodyPr wrap="square" lIns="27432" rIns="27432" tIns="27432" bIns="27432" anchor="t">
            <a:spAutoFit/>
          </a:bodyPr>
          <a:lstStyle/>
          <a:p>
            <a:pPr algn="l">
              <a:spcAft>
                <a:spcPts val="0"/>
              </a:spcAft>
            </a:pPr>
            <a:r>
              <a:rPr sz="1700" b="1">
                <a:solidFill>
                  <a:srgbClr val="161B26"/>
                </a:solidFill>
                <a:latin typeface="Arial"/>
              </a:rPr>
              <a:t>Interoperability confidence comes from status, header and schema assertions.</a:t>
            </a:r>
          </a:p>
        </p:txBody>
      </p:sp>
      <p:sp>
        <p:nvSpPr>
          <p:cNvPr id="14" name="TextBox 13"/>
          <p:cNvSpPr txBox="1"/>
          <p:nvPr/>
        </p:nvSpPr>
        <p:spPr>
          <a:xfrm>
            <a:off x="8028431" y="3977639"/>
            <a:ext cx="3154680" cy="123444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Worked-example values are illustrative evidence counts, not industry benchmarks. Edit the native chart with the class results.</a:t>
            </a:r>
          </a:p>
        </p:txBody>
      </p:sp>
      <p:sp>
        <p:nvSpPr>
          <p:cNvPr id="15" name="Rounded Rectangle 14"/>
          <p:cNvSpPr/>
          <p:nvPr/>
        </p:nvSpPr>
        <p:spPr>
          <a:xfrm>
            <a:off x="8028431" y="5321808"/>
            <a:ext cx="160020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EDITABLE CHART</a:t>
            </a:r>
          </a:p>
        </p:txBody>
      </p:sp>
    </p:spTree>
  </p:cSld>
  <p:clrMapOvr>
    <a:masterClrMapping/>
  </p:clrMapOvr>
  <p:transition spd="fast">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4 · HANDS-ON ACTIVITY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7: Expose a Controller-Based CRUD API</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175</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65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Add a JSON controller surface that reuses the application service without exposing persistence entities.</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Define DTO</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Map route</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Reuse service</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Return statuses</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Probe contract</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controller routes, DTOs, 201/200/400/404 behaviour and curl evidence</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activities/activity-07-controller-api/src/LocalCRM · full commands in the Learner Guide</a:t>
            </a:r>
          </a:p>
        </p:txBody>
      </p:sp>
    </p:spTree>
  </p:cSld>
  <p:clrMapOvr>
    <a:masterClrMapping/>
  </p:clrMapOvr>
  <p:transition spd="fast">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4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7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176</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Add an ApiController at /api/contacts that supports GET collection, GET item and POST create. Use transport DTOs, IContactStore, CreatedAtAction and CancellationToken. Do not return persistence entities directly. Include 400 and 404 evidence.</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7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177</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controller routes, DTOs, 201/200/400/404 behaviour and curl evidence.</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K4/A4 EVIDENCE</a:t>
            </a:r>
          </a:p>
        </p:txBody>
      </p:sp>
    </p:spTree>
  </p:cSld>
  <p:clrMapOvr>
    <a:masterClrMapping/>
  </p:clrMapOvr>
  <p:transition spd="fast">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4 · HANDS-ON ACTIVITY · LO4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8: Prove Persistence and Interoperability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178</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70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Replace volatile state with EF Core SQLite, publish an OpenAPI contract and verify components through integration tests.</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Add provider</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Migrate schema</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Project DTO</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Publish contract</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Run HTTP tests</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SQLite migration, persistent CRUD path, openapi.json and HTTP integration tests</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activities/activity-08-sqlite-openapi-tests/src/LocalCRM · full commands in the Learner Guide</a:t>
            </a:r>
          </a:p>
        </p:txBody>
      </p:sp>
    </p:spTree>
  </p:cSld>
  <p:clrMapOvr>
    <a:masterClrMapping/>
  </p:clrMapOvr>
  <p:transition spd="fast">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4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8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179</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Replace InMemoryContactStore with EF Core SQLite behind IContactStore. Add a migration, async cancellation-aware queries, OpenAPI in Development, and WebApplicationFactory tests for 201, 400 and 404. Preserve existing page and API contracts.</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4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8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180</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SQLite migration, persistent CRUD path, openapi.json and HTTP integration tests.</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K4/A4 EVIDENCE</a:t>
            </a:r>
          </a:p>
        </p:txBody>
      </p:sp>
    </p:spTree>
  </p:cSld>
  <p:clrMapOvr>
    <a:masterClrMapping/>
  </p:clrMapOvr>
  <p:transition spd="fast">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LO4 · K4 / A4</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Topic 4 · Evidence Recap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181</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Architecture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the component boundary and owner.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Mechanism</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Trace the runtime/data flow in order.</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Contract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Point to fields, configuration, code or status semantics.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Failure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Recognise the named signal and likely cause.</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Verification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Produce repeatable command or UI evidence.</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Activity link</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cumulative LocalCRM snapshot for this LO.</a:t>
            </a:r>
          </a:p>
        </p:txBody>
      </p:sp>
    </p:spTree>
  </p:cSld>
  <p:clrMapOvr>
    <a:masterClrMapping/>
  </p:clrMapOvr>
  <p:transition spd="fast">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955279" cy="320040"/>
          </a:xfrm>
          <a:prstGeom prst="rect">
            <a:avLst/>
          </a:prstGeom>
          <a:noFill/>
        </p:spPr>
        <p:txBody>
          <a:bodyPr wrap="square" lIns="27432" rIns="27432" tIns="27432" bIns="27432" anchor="t">
            <a:spAutoFit/>
          </a:bodyPr>
          <a:lstStyle/>
          <a:p>
            <a:pPr algn="l">
              <a:spcAft>
                <a:spcPts val="0"/>
              </a:spcAft>
            </a:pPr>
            <a:r>
              <a:rPr sz="1500" b="1">
                <a:solidFill>
                  <a:srgbClr val="1F6FEB"/>
                </a:solidFill>
                <a:latin typeface="Arial"/>
              </a:rPr>
              <a:t>TOPIC 5 · LO5 · K5 / A5</a:t>
            </a:r>
          </a:p>
        </p:txBody>
      </p:sp>
      <p:sp>
        <p:nvSpPr>
          <p:cNvPr id="6" name="TextBox 5"/>
          <p:cNvSpPr txBox="1"/>
          <p:nvPr/>
        </p:nvSpPr>
        <p:spPr>
          <a:xfrm>
            <a:off x="1280160" y="2606040"/>
            <a:ext cx="8778240" cy="914400"/>
          </a:xfrm>
          <a:prstGeom prst="rect">
            <a:avLst/>
          </a:prstGeom>
          <a:noFill/>
        </p:spPr>
        <p:txBody>
          <a:bodyPr wrap="square" lIns="27432" rIns="27432" tIns="27432" bIns="27432" anchor="t">
            <a:spAutoFit/>
          </a:bodyPr>
          <a:lstStyle/>
          <a:p>
            <a:pPr algn="l">
              <a:spcAft>
                <a:spcPts val="0"/>
              </a:spcAft>
            </a:pPr>
            <a:r>
              <a:rPr sz="3400" b="1">
                <a:solidFill>
                  <a:srgbClr val="161B26"/>
                </a:solidFill>
                <a:latin typeface="Arial"/>
              </a:rPr>
              <a:t>Production Hosting, Azure and Design Evidence</a:t>
            </a:r>
          </a:p>
        </p:txBody>
      </p:sp>
      <p:sp>
        <p:nvSpPr>
          <p:cNvPr id="7" name="TextBox 6"/>
          <p:cNvSpPr txBox="1"/>
          <p:nvPr/>
        </p:nvSpPr>
        <p:spPr>
          <a:xfrm>
            <a:off x="1280160" y="3794760"/>
            <a:ext cx="8778240" cy="594360"/>
          </a:xfrm>
          <a:prstGeom prst="rect">
            <a:avLst/>
          </a:prstGeom>
          <a:noFill/>
        </p:spPr>
        <p:txBody>
          <a:bodyPr wrap="square" lIns="27432" rIns="27432" tIns="27432" bIns="27432" anchor="t">
            <a:spAutoFit/>
          </a:bodyPr>
          <a:lstStyle/>
          <a:p>
            <a:pPr algn="l">
              <a:spcAft>
                <a:spcPts val="0"/>
              </a:spcAft>
            </a:pPr>
            <a:r>
              <a:rPr sz="1500" b="0">
                <a:solidFill>
                  <a:srgbClr val="5B6372"/>
                </a:solidFill>
                <a:latin typeface="Arial"/>
              </a:rPr>
              <a:t>deployable artifact → observable service → safe release → traceable design record</a:t>
            </a:r>
          </a:p>
        </p:txBody>
      </p:sp>
      <p:sp>
        <p:nvSpPr>
          <p:cNvPr id="8" name="TextBox 7"/>
          <p:cNvSpPr txBox="1"/>
          <p:nvPr/>
        </p:nvSpPr>
        <p:spPr>
          <a:xfrm>
            <a:off x="9509760" y="2057400"/>
            <a:ext cx="1417320" cy="1097280"/>
          </a:xfrm>
          <a:prstGeom prst="rect">
            <a:avLst/>
          </a:prstGeom>
          <a:noFill/>
        </p:spPr>
        <p:txBody>
          <a:bodyPr wrap="square" lIns="27432" rIns="27432" tIns="27432" bIns="27432" anchor="t">
            <a:spAutoFit/>
          </a:bodyPr>
          <a:lstStyle/>
          <a:p>
            <a:pPr algn="r">
              <a:spcAft>
                <a:spcPts val="0"/>
              </a:spcAft>
            </a:pPr>
            <a:r>
              <a:rPr sz="7200" b="1">
                <a:solidFill>
                  <a:srgbClr val="D7E0EA"/>
                </a:solidFill>
                <a:latin typeface="Arial"/>
              </a:rPr>
              <a:t>05</a:t>
            </a:r>
          </a:p>
        </p:txBody>
      </p:sp>
      <p:sp>
        <p:nvSpPr>
          <p:cNvPr id="9" name="TextBox 8"/>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10" name="TextBox 9"/>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182</a:t>
            </a:r>
          </a:p>
        </p:txBody>
      </p:sp>
    </p:spTree>
  </p:cSld>
  <p:clrMapOvr>
    <a:masterClrMapping/>
  </p:clrMapOvr>
  <p:transition spd="med">
    <p:push/>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Environment-specific configuration and secrets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183</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Source</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contains safe defaults and option schema</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Build</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produces environment-neutral artifact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Platform</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injects settings and secret references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Options</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validates configuration on startup</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Runtime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logs source names, never secret values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Environment-specific configuration and secrets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184</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var cs = builder.Configuration.GetConnectionString("LocalCRM")</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 throw new InvalidOperationException("Missing LocalCRM connection");</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ASPNETCORE_ENVIRONMENT</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Development/Staging/Production</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App__FeatureFlag</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environment variable key encoding</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Key Vault reference</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secret stays outside app settings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ValidateOnStart</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fails before traffic</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Environment-specific configuration and secrets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185</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ASPNETCORE_ENVIRONMENT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Development/Staging/Production</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App__FeatureFlag</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environment variable key encoding</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Key Vault reference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secret stays outside app settings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ValidateOnStart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fails before traffic</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Rotation</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changes secret without source edit</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Environment-specific configuration and secrets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186</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Secret in repo</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credential entered appsettings.json</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slot value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setting was not marked deployment-slot specific</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Silent default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production uses developer fallback</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Log leak</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configuration object was serialised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Secret scan is clean</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Production start fails without required setting</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Rotated value is picked up via platform process</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Structured logging and health checks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187</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Request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creates trace identifier</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Logger</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emits template plus named properties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Provider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ships events to sink</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Health check</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probes dependency readiness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Operator</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correlates failure by trace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Structured logging and health checks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188</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builder.Services.AddHealthChecks().AddDbContextCheck&lt;CrmDbContext&gt;();</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app.MapHealthChecks("/health/ready");</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Template</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Contact {ContactId} created</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Level</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Information/Warning/Error chosen by action</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Liveness</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process is running</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Readiness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dependencies can serve traffic</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Structured logging and health checks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189</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Template</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Contact {ContactId} created</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Level</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Information/Warning/Error chosen by action</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Liveness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process is running</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Readiness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dependencies can serve traffic</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PII</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not emitted as log property</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Structured logging and health checks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190</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String log</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fields cannot be queried</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False green</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liveness ignores failed database</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PII leak</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request body is logged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trace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client error cannot be correlated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/health/live and /health/ready have distinct meaning</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500 log carries trace id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No sensitive payload appears in sink</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Publish output and hosting boundary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191</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dotnet publish</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compiles release artifact</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Artifact</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contains assemblies, deps and config</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Host</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starts process with environment</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Kestrel</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listens on bound address</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Proxy</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terminates TLS and forwards headers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Publish output and hosting boundary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192</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publish -c Release -o ./publish</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ASPNETCORE_URLS=http://+:8080 dotnet ./publish/LocalCRM.dll</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Framework-dependent</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small artifact requires installed runtime</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Self-contained</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larger artifact bundles runtime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ForwardedHeaders</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trust only known proxy</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PORT/URLS</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platform supplies binding</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Publish output and hosting boundary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193</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Framework-dependent</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small artifact requires installed runtime</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Self-contained</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larger artifact bundles runtime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ForwardedHeaders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trust only known proxy</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PORT/URLS</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platform supplies binding</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Shutdown</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SIGTERM allows graceful stop</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Publish output and hosting boundary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194</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502</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process crashed or bound wrong port</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Redirect loop</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proxy headers are not handled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Runtime missing</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framework-dependent target lacks .NET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Partial artifact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publish folder was copied inconsistently</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Release artifact starts in a clean directory</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HTTP probe reaches bound port</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SIGTERM stops without dropping active request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Azure App Service component model</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195</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Resource group</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owns lifecycle boundary</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App Service plan</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provides compute and scale unit</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Web app</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hosts the deployment</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Configuration</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injects app settings and identity</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Monitoring</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collects logs, metrics and health</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Azure App Service component model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196</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az webapp config appsettings set --resource-group rg-localcrm \</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--name localcrm-web --settings ASPNETCORE_ENVIRONMENT=Production</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Region</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latency/data residency decision</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Plan SKU</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cost, scale and feature envelope</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Linux/Windows</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runtime hosting choice</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Always On</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avoids idle unload where supported</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Azure App Service component model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197</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Region</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latency/data residency decision</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Plan SKU</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cost, scale and feature envelope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Linux/Windows</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runtime hosting choice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Always On</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avoids idle unload where supported</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Health check</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removes unhealthy instances</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Azure App Service component model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198</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plan</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required feature is unavailable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Cold/idle</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Always On not enabled where needed</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Unhealthy instance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health path not configured</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Configuration drift</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portal-only edits bypass design record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Resource inventory names RG, plan and app</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Health check path is configured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Deployment settings match documented environment</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Deployment slots and safe promotion</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199</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Deploy staging</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new build receives no production traffic</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Warm/probe</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health and smoke tests execute</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Swap</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hostnames move between slots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Observe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errors and latency are compared</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Rollback</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swap back if acceptance fails</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Deployment slots and safe promotion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200</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az webapp deployment slot swap -g rg-localcrm -n localcrm-web \</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--slot staging --target-slot production</a:t>
            </a:r>
          </a:p>
        </p:txBody>
      </p:sp>
      <p:sp>
        <p:nvSpPr>
          <p:cNvPr id="17" name="Rounded Rectangle 16"/>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1" name="TextBox 20"/>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Slot setting</a:t>
            </a:r>
          </a:p>
        </p:txBody>
      </p:sp>
      <p:sp>
        <p:nvSpPr>
          <p:cNvPr id="22" name="TextBox 21"/>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secret/connection stays with slot</a:t>
            </a:r>
          </a:p>
        </p:txBody>
      </p:sp>
      <p:sp>
        <p:nvSpPr>
          <p:cNvPr id="23" name="Rounded Rectangle 22"/>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7" name="TextBox 26"/>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Warm-up</a:t>
            </a:r>
          </a:p>
        </p:txBody>
      </p:sp>
      <p:sp>
        <p:nvSpPr>
          <p:cNvPr id="28" name="TextBox 27"/>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application initialises before swap</a:t>
            </a:r>
          </a:p>
        </p:txBody>
      </p:sp>
      <p:sp>
        <p:nvSpPr>
          <p:cNvPr id="29" name="Rounded Rectangle 28"/>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3" name="TextBox 32"/>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Preview</a:t>
            </a:r>
          </a:p>
        </p:txBody>
      </p:sp>
      <p:sp>
        <p:nvSpPr>
          <p:cNvPr id="34" name="TextBox 33"/>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validates configuration changes</a:t>
            </a:r>
          </a:p>
        </p:txBody>
      </p:sp>
      <p:sp>
        <p:nvSpPr>
          <p:cNvPr id="35" name="Rounded Rectangle 34"/>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9" name="TextBox 38"/>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Smoke test</a:t>
            </a:r>
          </a:p>
        </p:txBody>
      </p:sp>
      <p:sp>
        <p:nvSpPr>
          <p:cNvPr id="40" name="TextBox 39"/>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uses public contract</a:t>
            </a:r>
          </a:p>
        </p:txBody>
      </p:sp>
      <p:sp>
        <p:nvSpPr>
          <p:cNvPr id="41" name="Rounded Rectangle 40"/>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3" name="TextBox 42"/>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Deployment slots and safe promotion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201</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Slot setting</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secret/connection stays with slot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Warm-up</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application initialises before swap</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Preview</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validates configuration changes</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Smoke test</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uses public contract</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Rollback</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predefined threshold and command</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Deployment slots and safe promotion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202</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Bad swap</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slot-specific setting was not sticky</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Warm-up miss</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first production request compiles/initialises</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rollback</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failed build remains live</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Schema incompatibility</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old app cannot run after migration</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Staging smoke test passes before swap</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Production health remains green</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Rollback step is rehearsed and timed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Managed identity and database access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203</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Web app</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obtains platform-managed identity</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Token credential</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requests Entra token</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Azure SQL</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authorises identity principal</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EF Core</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opens connection without password</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Audit</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records principal and query outcome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Managed identity and database access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204</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builder.Services.AddAzureClients(c =&gt; c.UseCredential(new DefaultAzureCredential()));</a:t>
            </a:r>
          </a:p>
        </p:txBody>
      </p:sp>
      <p:sp>
        <p:nvSpPr>
          <p:cNvPr id="15" name="Rounded Rectangle 14"/>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9" name="TextBox 18"/>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System assigned</a:t>
            </a:r>
          </a:p>
        </p:txBody>
      </p:sp>
      <p:sp>
        <p:nvSpPr>
          <p:cNvPr id="20" name="TextBox 19"/>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identity lifecycle follows app</a:t>
            </a:r>
          </a:p>
        </p:txBody>
      </p:sp>
      <p:sp>
        <p:nvSpPr>
          <p:cNvPr id="21" name="Rounded Rectangle 20"/>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5" name="TextBox 24"/>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User assigned</a:t>
            </a:r>
          </a:p>
        </p:txBody>
      </p:sp>
      <p:sp>
        <p:nvSpPr>
          <p:cNvPr id="26" name="TextBox 25"/>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identity can be shared/reused</a:t>
            </a:r>
          </a:p>
        </p:txBody>
      </p:sp>
      <p:sp>
        <p:nvSpPr>
          <p:cNvPr id="27" name="Rounded Rectangle 26"/>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1" name="TextBox 30"/>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Least privilege</a:t>
            </a:r>
          </a:p>
        </p:txBody>
      </p:sp>
      <p:sp>
        <p:nvSpPr>
          <p:cNvPr id="32" name="TextBox 31"/>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grant only required database role</a:t>
            </a:r>
          </a:p>
        </p:txBody>
      </p:sp>
      <p:sp>
        <p:nvSpPr>
          <p:cNvPr id="33" name="Rounded Rectangle 32"/>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7" name="TextBox 36"/>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DefaultAzureCredential</a:t>
            </a:r>
          </a:p>
        </p:txBody>
      </p:sp>
      <p:sp>
        <p:nvSpPr>
          <p:cNvPr id="38" name="TextBox 37"/>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local and hosted credential chain</a:t>
            </a:r>
          </a:p>
        </p:txBody>
      </p:sp>
      <p:sp>
        <p:nvSpPr>
          <p:cNvPr id="39" name="Rounded Rectangle 38"/>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1" name="TextBox 40"/>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Managed identity and database access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205</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System assigned</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identity lifecycle follows app</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User assigned</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identity can be shared/reused</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Least privilege</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grant only required database role</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DefaultAzureCredential</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local and hosted credential chain</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No password</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rotation burden moves to platform</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Managed identity and database access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206</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Login failed</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identity lacks database user/role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Wrong tenant</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credential resolved unexpected account</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Overprivilege</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app identity is database owner</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Local mismatch</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developer chain differs from hosted identity</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App connects with passwordless identity</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Database audit names the app principal</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Denied operation proves least privilege</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CI/CD gates and smoke evidence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207</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Commit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starts immutable build</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Restore/build</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recreates dependencies and binaries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Test/scan</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blocks defects and secrets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Deploy staging</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releases exact artifact</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Smoke/promote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verifies contract before production</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CI/CD gates and smoke evidence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208</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restore --locked-mode</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build -c Release --no-restore</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dotnet test -c Release --no-build</a:t>
            </a:r>
          </a:p>
        </p:txBody>
      </p:sp>
      <p:sp>
        <p:nvSpPr>
          <p:cNvPr id="19" name="Rounded Rectangle 18"/>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3" name="TextBox 22"/>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Artifact SHA</a:t>
            </a:r>
          </a:p>
        </p:txBody>
      </p:sp>
      <p:sp>
        <p:nvSpPr>
          <p:cNvPr id="24" name="TextBox 23"/>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links deployed bytes to commit</a:t>
            </a:r>
          </a:p>
        </p:txBody>
      </p:sp>
      <p:sp>
        <p:nvSpPr>
          <p:cNvPr id="25" name="Rounded Rectangle 24"/>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9" name="TextBox 28"/>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dotnet test</a:t>
            </a:r>
          </a:p>
        </p:txBody>
      </p:sp>
      <p:sp>
        <p:nvSpPr>
          <p:cNvPr id="30" name="TextBox 29"/>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unit and integration gate</a:t>
            </a:r>
          </a:p>
        </p:txBody>
      </p:sp>
      <p:sp>
        <p:nvSpPr>
          <p:cNvPr id="31" name="Rounded Rectangle 30"/>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5" name="TextBox 34"/>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Dependency scan</a:t>
            </a:r>
          </a:p>
        </p:txBody>
      </p:sp>
      <p:sp>
        <p:nvSpPr>
          <p:cNvPr id="36" name="TextBox 35"/>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known-vulnerability control</a:t>
            </a:r>
          </a:p>
        </p:txBody>
      </p:sp>
      <p:sp>
        <p:nvSpPr>
          <p:cNvPr id="37" name="Rounded Rectangle 36"/>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1" name="TextBox 40"/>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Environment approval</a:t>
            </a:r>
          </a:p>
        </p:txBody>
      </p:sp>
      <p:sp>
        <p:nvSpPr>
          <p:cNvPr id="42" name="TextBox 41"/>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separates build from promotion</a:t>
            </a:r>
          </a:p>
        </p:txBody>
      </p:sp>
      <p:sp>
        <p:nvSpPr>
          <p:cNvPr id="43" name="Rounded Rectangle 42"/>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5" name="TextBox 44"/>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CI/CD gates and smoke evidence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209</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Artifact SHA</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links deployed bytes to commit</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dotnet test</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unit and integration gate</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Dependency scan</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known-vulnerability control</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Environment approval</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separates build from promotion</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Smoke</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health plus one business transaction</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CI/CD gates and smoke evidence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210</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Mutable deploy</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server rebuilds from source</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No lock</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dependency version changes silently</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Green build/bad app</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HTTP smoke test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Untraceable</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artifact SHA not recorded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Pipeline recreates build from lock file</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Artifact hash is recorded</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Smoke test proves health and create/read path</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MECHANISM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ADR, C4 and requirements traceability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211</a:t>
            </a:r>
          </a:p>
        </p:txBody>
      </p:sp>
      <p:sp>
        <p:nvSpPr>
          <p:cNvPr id="10" name="Rounded Rectangle 9"/>
          <p:cNvSpPr/>
          <p:nvPr/>
        </p:nvSpPr>
        <p:spPr>
          <a:xfrm>
            <a:off x="71323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221284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87782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F6FEB"/>
                </a:solidFill>
                <a:latin typeface="Arial"/>
              </a:rPr>
              <a:t>Requirement</a:t>
            </a:r>
          </a:p>
        </p:txBody>
      </p:sp>
      <p:sp>
        <p:nvSpPr>
          <p:cNvPr id="15" name="TextBox 14"/>
          <p:cNvSpPr txBox="1"/>
          <p:nvPr/>
        </p:nvSpPr>
        <p:spPr>
          <a:xfrm>
            <a:off x="87782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states user-visible need and acceptance</a:t>
            </a:r>
          </a:p>
        </p:txBody>
      </p:sp>
      <p:cxnSp>
        <p:nvCxnSpPr>
          <p:cNvPr id="16" name="Connector 15"/>
          <p:cNvCxnSpPr/>
          <p:nvPr/>
        </p:nvCxnSpPr>
        <p:spPr>
          <a:xfrm>
            <a:off x="2587752" y="3374136"/>
            <a:ext cx="283463"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0779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7792" y="1874519"/>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74720" y="221284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1" name="TextBox 20"/>
          <p:cNvSpPr txBox="1"/>
          <p:nvPr/>
        </p:nvSpPr>
        <p:spPr>
          <a:xfrm>
            <a:off x="307238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6D3FD2"/>
                </a:solidFill>
                <a:latin typeface="Arial"/>
              </a:rPr>
              <a:t>C4 view</a:t>
            </a:r>
          </a:p>
        </p:txBody>
      </p:sp>
      <p:sp>
        <p:nvSpPr>
          <p:cNvPr id="22" name="TextBox 21"/>
          <p:cNvSpPr txBox="1"/>
          <p:nvPr/>
        </p:nvSpPr>
        <p:spPr>
          <a:xfrm>
            <a:off x="307238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shows people, systems and containers</a:t>
            </a:r>
          </a:p>
        </p:txBody>
      </p:sp>
      <p:cxnSp>
        <p:nvCxnSpPr>
          <p:cNvPr id="23" name="Connector 22"/>
          <p:cNvCxnSpPr/>
          <p:nvPr/>
        </p:nvCxnSpPr>
        <p:spPr>
          <a:xfrm>
            <a:off x="4782312" y="3374136"/>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0235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1874519"/>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221284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8" name="TextBox 27"/>
          <p:cNvSpPr txBox="1"/>
          <p:nvPr/>
        </p:nvSpPr>
        <p:spPr>
          <a:xfrm>
            <a:off x="526694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08A73"/>
                </a:solidFill>
                <a:latin typeface="Arial"/>
              </a:rPr>
              <a:t>ADR</a:t>
            </a:r>
          </a:p>
        </p:txBody>
      </p:sp>
      <p:sp>
        <p:nvSpPr>
          <p:cNvPr id="29" name="TextBox 28"/>
          <p:cNvSpPr txBox="1"/>
          <p:nvPr/>
        </p:nvSpPr>
        <p:spPr>
          <a:xfrm>
            <a:off x="526694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records decision, context and consequences</a:t>
            </a:r>
          </a:p>
        </p:txBody>
      </p:sp>
      <p:cxnSp>
        <p:nvCxnSpPr>
          <p:cNvPr id="30" name="Connector 29"/>
          <p:cNvCxnSpPr/>
          <p:nvPr/>
        </p:nvCxnSpPr>
        <p:spPr>
          <a:xfrm>
            <a:off x="6976872" y="3374136"/>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9691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96912" y="1874519"/>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0" y="221284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5" name="TextBox 34"/>
          <p:cNvSpPr txBox="1"/>
          <p:nvPr/>
        </p:nvSpPr>
        <p:spPr>
          <a:xfrm>
            <a:off x="746150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16845B"/>
                </a:solidFill>
                <a:latin typeface="Arial"/>
              </a:rPr>
              <a:t>Interface contract</a:t>
            </a:r>
          </a:p>
        </p:txBody>
      </p:sp>
      <p:sp>
        <p:nvSpPr>
          <p:cNvPr id="36" name="TextBox 35"/>
          <p:cNvSpPr txBox="1"/>
          <p:nvPr/>
        </p:nvSpPr>
        <p:spPr>
          <a:xfrm>
            <a:off x="746150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OpenAPI/schema defines boundary</a:t>
            </a:r>
          </a:p>
        </p:txBody>
      </p:sp>
      <p:cxnSp>
        <p:nvCxnSpPr>
          <p:cNvPr id="37" name="Connector 36"/>
          <p:cNvCxnSpPr/>
          <p:nvPr/>
        </p:nvCxnSpPr>
        <p:spPr>
          <a:xfrm>
            <a:off x="9171432" y="3374136"/>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491472" y="1874519"/>
            <a:ext cx="1874519" cy="299923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91472"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221284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331720"/>
            <a:ext cx="749808" cy="347472"/>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42" name="TextBox 41"/>
          <p:cNvSpPr txBox="1"/>
          <p:nvPr/>
        </p:nvSpPr>
        <p:spPr>
          <a:xfrm>
            <a:off x="9656064" y="3136392"/>
            <a:ext cx="1545336" cy="411480"/>
          </a:xfrm>
          <a:prstGeom prst="rect">
            <a:avLst/>
          </a:prstGeom>
          <a:noFill/>
        </p:spPr>
        <p:txBody>
          <a:bodyPr wrap="square" lIns="27432" rIns="27432" tIns="27432" bIns="27432" anchor="t">
            <a:spAutoFit/>
          </a:bodyPr>
          <a:lstStyle/>
          <a:p>
            <a:pPr algn="ctr">
              <a:spcAft>
                <a:spcPts val="0"/>
              </a:spcAft>
            </a:pPr>
            <a:r>
              <a:rPr sz="1400" b="1">
                <a:solidFill>
                  <a:srgbClr val="C77600"/>
                </a:solidFill>
                <a:latin typeface="Arial"/>
              </a:rPr>
              <a:t>Evidence</a:t>
            </a:r>
          </a:p>
        </p:txBody>
      </p:sp>
      <p:sp>
        <p:nvSpPr>
          <p:cNvPr id="43" name="TextBox 42"/>
          <p:cNvSpPr txBox="1"/>
          <p:nvPr/>
        </p:nvSpPr>
        <p:spPr>
          <a:xfrm>
            <a:off x="9656064" y="3675887"/>
            <a:ext cx="1545336" cy="804672"/>
          </a:xfrm>
          <a:prstGeom prst="rect">
            <a:avLst/>
          </a:prstGeom>
          <a:noFill/>
        </p:spPr>
        <p:txBody>
          <a:bodyPr wrap="square" lIns="27432" rIns="27432" tIns="27432" bIns="27432" anchor="t">
            <a:spAutoFit/>
          </a:bodyPr>
          <a:lstStyle/>
          <a:p>
            <a:pPr algn="ctr">
              <a:spcAft>
                <a:spcPts val="0"/>
              </a:spcAft>
            </a:pPr>
            <a:r>
              <a:rPr sz="1100" b="0">
                <a:solidFill>
                  <a:srgbClr val="161B26"/>
                </a:solidFill>
                <a:latin typeface="Arial"/>
              </a:rPr>
              <a:t>tests and release link close trace</a:t>
            </a:r>
          </a:p>
        </p:txBody>
      </p:sp>
      <p:sp>
        <p:nvSpPr>
          <p:cNvPr id="44" name="Rectangle 43"/>
          <p:cNvSpPr/>
          <p:nvPr/>
        </p:nvSpPr>
        <p:spPr>
          <a:xfrm>
            <a:off x="658368" y="5148072"/>
            <a:ext cx="10835640"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266944"/>
            <a:ext cx="1325880" cy="210312"/>
          </a:xfrm>
          <a:prstGeom prst="rect">
            <a:avLst/>
          </a:prstGeom>
          <a:noFill/>
        </p:spPr>
        <p:txBody>
          <a:bodyPr wrap="square" lIns="27432" rIns="27432" tIns="27432" bIns="27432" anchor="t">
            <a:spAutoFit/>
          </a:bodyPr>
          <a:lstStyle/>
          <a:p>
            <a:pPr algn="l">
              <a:spcAft>
                <a:spcPts val="0"/>
              </a:spcAft>
            </a:pPr>
            <a:r>
              <a:rPr sz="1100" b="1">
                <a:solidFill>
                  <a:srgbClr val="1F6FEB"/>
                </a:solidFill>
                <a:latin typeface="Arial"/>
              </a:rPr>
              <a:t>DESIGN RULE</a:t>
            </a:r>
          </a:p>
        </p:txBody>
      </p:sp>
      <p:sp>
        <p:nvSpPr>
          <p:cNvPr id="46" name="TextBox 45"/>
          <p:cNvSpPr txBox="1"/>
          <p:nvPr/>
        </p:nvSpPr>
        <p:spPr>
          <a:xfrm>
            <a:off x="2148840" y="5230368"/>
            <a:ext cx="9006840" cy="457200"/>
          </a:xfrm>
          <a:prstGeom prst="rect">
            <a:avLst/>
          </a:prstGeom>
          <a:noFill/>
        </p:spPr>
        <p:txBody>
          <a:bodyPr wrap="square" lIns="27432" rIns="27432" tIns="27432" bIns="27432" anchor="t">
            <a:spAutoFit/>
          </a:bodyPr>
          <a:lstStyle/>
          <a:p>
            <a:pPr algn="l">
              <a:spcAft>
                <a:spcPts val="0"/>
              </a:spcAft>
            </a:pPr>
            <a:r>
              <a:rPr sz="1200" b="0">
                <a:solidFill>
                  <a:srgbClr val="161B26"/>
                </a:solidFill>
                <a:latin typeface="Arial"/>
              </a:rPr>
              <a:t>Trace the boundary end to end; verify both the expected response and the failure that proves the boundary is enforced.</a:t>
            </a:r>
          </a:p>
        </p:txBody>
      </p:sp>
    </p:spTree>
  </p:cSld>
  <p:clrMapOvr>
    <a:masterClrMapping/>
  </p:clrMapOvr>
  <p:transition spd="fast">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EXACT CONTRACT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ADR, C4 and requirements traceability · worked artifact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212</a:t>
            </a:r>
          </a:p>
        </p:txBody>
      </p:sp>
      <p:sp>
        <p:nvSpPr>
          <p:cNvPr id="10" name="Rounded Rectangle 9"/>
          <p:cNvSpPr/>
          <p:nvPr/>
        </p:nvSpPr>
        <p:spPr>
          <a:xfrm>
            <a:off x="658368" y="1700784"/>
            <a:ext cx="6446520" cy="431596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91440" cy="4315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83664"/>
            <a:ext cx="5897880" cy="256032"/>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REVIEWED EXCERPT · .NET 10</a:t>
            </a:r>
          </a:p>
        </p:txBody>
      </p:sp>
      <p:sp>
        <p:nvSpPr>
          <p:cNvPr id="13" name="TextBox 12"/>
          <p:cNvSpPr txBox="1"/>
          <p:nvPr/>
        </p:nvSpPr>
        <p:spPr>
          <a:xfrm>
            <a:off x="896112" y="228600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1</a:t>
            </a:r>
          </a:p>
        </p:txBody>
      </p:sp>
      <p:sp>
        <p:nvSpPr>
          <p:cNvPr id="14" name="TextBox 13"/>
          <p:cNvSpPr txBox="1"/>
          <p:nvPr/>
        </p:nvSpPr>
        <p:spPr>
          <a:xfrm>
            <a:off x="1307592" y="228600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 ADR-0001: Razor Pages + controller API</a:t>
            </a:r>
          </a:p>
        </p:txBody>
      </p:sp>
      <p:sp>
        <p:nvSpPr>
          <p:cNvPr id="15" name="TextBox 14"/>
          <p:cNvSpPr txBox="1"/>
          <p:nvPr/>
        </p:nvSpPr>
        <p:spPr>
          <a:xfrm>
            <a:off x="896112" y="2560320"/>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2</a:t>
            </a:r>
          </a:p>
        </p:txBody>
      </p:sp>
      <p:sp>
        <p:nvSpPr>
          <p:cNvPr id="16" name="TextBox 15"/>
          <p:cNvSpPr txBox="1"/>
          <p:nvPr/>
        </p:nvSpPr>
        <p:spPr>
          <a:xfrm>
            <a:off x="1307592" y="2560320"/>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Status: Accepted</a:t>
            </a:r>
          </a:p>
        </p:txBody>
      </p:sp>
      <p:sp>
        <p:nvSpPr>
          <p:cNvPr id="17" name="TextBox 16"/>
          <p:cNvSpPr txBox="1"/>
          <p:nvPr/>
        </p:nvSpPr>
        <p:spPr>
          <a:xfrm>
            <a:off x="896112" y="283463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3</a:t>
            </a:r>
          </a:p>
        </p:txBody>
      </p:sp>
      <p:sp>
        <p:nvSpPr>
          <p:cNvPr id="18" name="TextBox 17"/>
          <p:cNvSpPr txBox="1"/>
          <p:nvPr/>
        </p:nvSpPr>
        <p:spPr>
          <a:xfrm>
            <a:off x="1307592" y="283463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Decision: page-focused UI; JSON API boundary</a:t>
            </a:r>
          </a:p>
        </p:txBody>
      </p:sp>
      <p:sp>
        <p:nvSpPr>
          <p:cNvPr id="19" name="TextBox 18"/>
          <p:cNvSpPr txBox="1"/>
          <p:nvPr/>
        </p:nvSpPr>
        <p:spPr>
          <a:xfrm>
            <a:off x="896112" y="3108959"/>
            <a:ext cx="329184" cy="256032"/>
          </a:xfrm>
          <a:prstGeom prst="rect">
            <a:avLst/>
          </a:prstGeom>
          <a:noFill/>
        </p:spPr>
        <p:txBody>
          <a:bodyPr wrap="square" lIns="27432" rIns="27432" tIns="27432" bIns="27432" anchor="t">
            <a:spAutoFit/>
          </a:bodyPr>
          <a:lstStyle/>
          <a:p>
            <a:pPr algn="r">
              <a:spcAft>
                <a:spcPts val="0"/>
              </a:spcAft>
            </a:pPr>
            <a:r>
              <a:rPr sz="1000" b="0">
                <a:solidFill>
                  <a:srgbClr val="5B6372"/>
                </a:solidFill>
                <a:latin typeface="Consolas"/>
              </a:rPr>
              <a:t>4</a:t>
            </a:r>
          </a:p>
        </p:txBody>
      </p:sp>
      <p:sp>
        <p:nvSpPr>
          <p:cNvPr id="20" name="TextBox 19"/>
          <p:cNvSpPr txBox="1"/>
          <p:nvPr/>
        </p:nvSpPr>
        <p:spPr>
          <a:xfrm>
            <a:off x="1307592" y="3108959"/>
            <a:ext cx="5440680" cy="256032"/>
          </a:xfrm>
          <a:prstGeom prst="rect">
            <a:avLst/>
          </a:prstGeom>
          <a:noFill/>
        </p:spPr>
        <p:txBody>
          <a:bodyPr wrap="square" lIns="27432" rIns="27432" tIns="27432" bIns="27432" anchor="t">
            <a:spAutoFit/>
          </a:bodyPr>
          <a:lstStyle/>
          <a:p>
            <a:pPr algn="l">
              <a:spcAft>
                <a:spcPts val="0"/>
              </a:spcAft>
            </a:pPr>
            <a:r>
              <a:rPr sz="1150" b="0">
                <a:solidFill>
                  <a:srgbClr val="D6E7FF"/>
                </a:solidFill>
                <a:latin typeface="Consolas"/>
              </a:rPr>
              <a:t>Consequences: shared service; two HTTP surfaces.</a:t>
            </a:r>
          </a:p>
        </p:txBody>
      </p:sp>
      <p:sp>
        <p:nvSpPr>
          <p:cNvPr id="21" name="Rounded Rectangle 20"/>
          <p:cNvSpPr/>
          <p:nvPr/>
        </p:nvSpPr>
        <p:spPr>
          <a:xfrm>
            <a:off x="7342631" y="1700784"/>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1" y="1700784"/>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1"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195681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25" name="TextBox 24"/>
          <p:cNvSpPr txBox="1"/>
          <p:nvPr/>
        </p:nvSpPr>
        <p:spPr>
          <a:xfrm>
            <a:off x="8138160" y="1828800"/>
            <a:ext cx="3063240" cy="228600"/>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Requirement ID</a:t>
            </a:r>
          </a:p>
        </p:txBody>
      </p:sp>
      <p:sp>
        <p:nvSpPr>
          <p:cNvPr id="26" name="TextBox 25"/>
          <p:cNvSpPr txBox="1"/>
          <p:nvPr/>
        </p:nvSpPr>
        <p:spPr>
          <a:xfrm>
            <a:off x="8138160" y="2112264"/>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REQ-001 stable identifier</a:t>
            </a:r>
          </a:p>
        </p:txBody>
      </p:sp>
      <p:sp>
        <p:nvSpPr>
          <p:cNvPr id="27" name="Rounded Rectangle 26"/>
          <p:cNvSpPr/>
          <p:nvPr/>
        </p:nvSpPr>
        <p:spPr>
          <a:xfrm>
            <a:off x="7342631" y="2770632"/>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2770632"/>
            <a:ext cx="82296" cy="91440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1231" y="294436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026664"/>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31" name="TextBox 30"/>
          <p:cNvSpPr txBox="1"/>
          <p:nvPr/>
        </p:nvSpPr>
        <p:spPr>
          <a:xfrm>
            <a:off x="8138160" y="2898648"/>
            <a:ext cx="3063240" cy="228600"/>
          </a:xfrm>
          <a:prstGeom prst="rect">
            <a:avLst/>
          </a:prstGeom>
          <a:noFill/>
        </p:spPr>
        <p:txBody>
          <a:bodyPr wrap="square" lIns="27432" rIns="27432" tIns="27432" bIns="27432" anchor="t">
            <a:spAutoFit/>
          </a:bodyPr>
          <a:lstStyle/>
          <a:p>
            <a:pPr algn="l">
              <a:spcAft>
                <a:spcPts val="0"/>
              </a:spcAft>
            </a:pPr>
            <a:r>
              <a:rPr sz="1300" b="1">
                <a:solidFill>
                  <a:srgbClr val="6D3FD2"/>
                </a:solidFill>
                <a:latin typeface="Arial"/>
              </a:rPr>
              <a:t>Decision</a:t>
            </a:r>
          </a:p>
        </p:txBody>
      </p:sp>
      <p:sp>
        <p:nvSpPr>
          <p:cNvPr id="32" name="TextBox 31"/>
          <p:cNvSpPr txBox="1"/>
          <p:nvPr/>
        </p:nvSpPr>
        <p:spPr>
          <a:xfrm>
            <a:off x="8138160" y="3182112"/>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ADR-0001 accepted/rejected options</a:t>
            </a:r>
          </a:p>
        </p:txBody>
      </p:sp>
      <p:sp>
        <p:nvSpPr>
          <p:cNvPr id="33" name="Rounded Rectangle 32"/>
          <p:cNvSpPr/>
          <p:nvPr/>
        </p:nvSpPr>
        <p:spPr>
          <a:xfrm>
            <a:off x="7342631" y="3840480"/>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42631" y="3840480"/>
            <a:ext cx="82296" cy="91440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71231" y="401421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096512"/>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37" name="TextBox 36"/>
          <p:cNvSpPr txBox="1"/>
          <p:nvPr/>
        </p:nvSpPr>
        <p:spPr>
          <a:xfrm>
            <a:off x="8138160" y="3968496"/>
            <a:ext cx="3063240" cy="228600"/>
          </a:xfrm>
          <a:prstGeom prst="rect">
            <a:avLst/>
          </a:prstGeom>
          <a:noFill/>
        </p:spPr>
        <p:txBody>
          <a:bodyPr wrap="square" lIns="27432" rIns="27432" tIns="27432" bIns="27432" anchor="t">
            <a:spAutoFit/>
          </a:bodyPr>
          <a:lstStyle/>
          <a:p>
            <a:pPr algn="l">
              <a:spcAft>
                <a:spcPts val="0"/>
              </a:spcAft>
            </a:pPr>
            <a:r>
              <a:rPr sz="1300" b="1">
                <a:solidFill>
                  <a:srgbClr val="108A73"/>
                </a:solidFill>
                <a:latin typeface="Arial"/>
              </a:rPr>
              <a:t>Component</a:t>
            </a:r>
          </a:p>
        </p:txBody>
      </p:sp>
      <p:sp>
        <p:nvSpPr>
          <p:cNvPr id="38" name="TextBox 37"/>
          <p:cNvSpPr txBox="1"/>
          <p:nvPr/>
        </p:nvSpPr>
        <p:spPr>
          <a:xfrm>
            <a:off x="8138160" y="4251960"/>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owner and responsibility</a:t>
            </a:r>
          </a:p>
        </p:txBody>
      </p:sp>
      <p:sp>
        <p:nvSpPr>
          <p:cNvPr id="39" name="Rounded Rectangle 38"/>
          <p:cNvSpPr/>
          <p:nvPr/>
        </p:nvSpPr>
        <p:spPr>
          <a:xfrm>
            <a:off x="7342631" y="4910328"/>
            <a:ext cx="4151376" cy="91440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42631" y="4910328"/>
            <a:ext cx="82296" cy="91440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71231" y="5084064"/>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16636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43" name="TextBox 42"/>
          <p:cNvSpPr txBox="1"/>
          <p:nvPr/>
        </p:nvSpPr>
        <p:spPr>
          <a:xfrm>
            <a:off x="8138160" y="5038344"/>
            <a:ext cx="3063240" cy="228600"/>
          </a:xfrm>
          <a:prstGeom prst="rect">
            <a:avLst/>
          </a:prstGeom>
          <a:noFill/>
        </p:spPr>
        <p:txBody>
          <a:bodyPr wrap="square" lIns="27432" rIns="27432" tIns="27432" bIns="27432" anchor="t">
            <a:spAutoFit/>
          </a:bodyPr>
          <a:lstStyle/>
          <a:p>
            <a:pPr algn="l">
              <a:spcAft>
                <a:spcPts val="0"/>
              </a:spcAft>
            </a:pPr>
            <a:r>
              <a:rPr sz="1300" b="1">
                <a:solidFill>
                  <a:srgbClr val="16845B"/>
                </a:solidFill>
                <a:latin typeface="Arial"/>
              </a:rPr>
              <a:t>Interface</a:t>
            </a:r>
          </a:p>
        </p:txBody>
      </p:sp>
      <p:sp>
        <p:nvSpPr>
          <p:cNvPr id="44" name="TextBox 43"/>
          <p:cNvSpPr txBox="1"/>
          <p:nvPr/>
        </p:nvSpPr>
        <p:spPr>
          <a:xfrm>
            <a:off x="8138160" y="5321808"/>
            <a:ext cx="3063240" cy="384048"/>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method/path/schema/status</a:t>
            </a:r>
          </a:p>
        </p:txBody>
      </p:sp>
      <p:sp>
        <p:nvSpPr>
          <p:cNvPr id="45" name="Rounded Rectangle 44"/>
          <p:cNvSpPr/>
          <p:nvPr/>
        </p:nvSpPr>
        <p:spPr>
          <a:xfrm>
            <a:off x="7342631" y="5724144"/>
            <a:ext cx="1234440" cy="29260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5751576"/>
            <a:ext cx="123444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 / A5</a:t>
            </a:r>
          </a:p>
        </p:txBody>
      </p:sp>
      <p:sp>
        <p:nvSpPr>
          <p:cNvPr id="47" name="TextBox 46"/>
          <p:cNvSpPr txBox="1"/>
          <p:nvPr/>
        </p:nvSpPr>
        <p:spPr>
          <a:xfrm>
            <a:off x="8732520" y="5733288"/>
            <a:ext cx="2743200" cy="228600"/>
          </a:xfrm>
          <a:prstGeom prst="rect">
            <a:avLst/>
          </a:prstGeom>
          <a:noFill/>
        </p:spPr>
        <p:txBody>
          <a:bodyPr wrap="square" lIns="27432" rIns="27432" tIns="27432" bIns="27432" anchor="t">
            <a:spAutoFit/>
          </a:bodyPr>
          <a:lstStyle/>
          <a:p>
            <a:pPr algn="l">
              <a:spcAft>
                <a:spcPts val="0"/>
              </a:spcAft>
            </a:pPr>
            <a:r>
              <a:rPr sz="900" b="0">
                <a:solidFill>
                  <a:srgbClr val="5B6372"/>
                </a:solidFill>
                <a:latin typeface="Arial"/>
              </a:rPr>
              <a:t>Full procedures: Learner Guide</a:t>
            </a:r>
          </a:p>
        </p:txBody>
      </p:sp>
    </p:spTree>
  </p:cSld>
  <p:clrMapOvr>
    <a:masterClrMapping/>
  </p:clrMapOvr>
  <p:transition spd="fast">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DESIGN DETAIL</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ADR, C4 and requirements traceability · interface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213</a:t>
            </a:r>
          </a:p>
        </p:txBody>
      </p:sp>
      <p:sp>
        <p:nvSpPr>
          <p:cNvPr id="10" name="Rectangle 9"/>
          <p:cNvSpPr/>
          <p:nvPr/>
        </p:nvSpPr>
        <p:spPr>
          <a:xfrm>
            <a:off x="658368" y="1719072"/>
            <a:ext cx="23317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56231"/>
            <a:ext cx="21031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CONTRACT ELEMENT</a:t>
            </a:r>
          </a:p>
        </p:txBody>
      </p:sp>
      <p:sp>
        <p:nvSpPr>
          <p:cNvPr id="12" name="Rectangle 11"/>
          <p:cNvSpPr/>
          <p:nvPr/>
        </p:nvSpPr>
        <p:spPr>
          <a:xfrm>
            <a:off x="2990087" y="1719072"/>
            <a:ext cx="52120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18103" y="1856231"/>
            <a:ext cx="498348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OPERATIONAL MEANING</a:t>
            </a:r>
          </a:p>
        </p:txBody>
      </p:sp>
      <p:sp>
        <p:nvSpPr>
          <p:cNvPr id="14" name="Rectangle 13"/>
          <p:cNvSpPr/>
          <p:nvPr/>
        </p:nvSpPr>
        <p:spPr>
          <a:xfrm>
            <a:off x="8202167" y="1719072"/>
            <a:ext cx="301752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1856231"/>
            <a:ext cx="2788920" cy="228600"/>
          </a:xfrm>
          <a:prstGeom prst="rect">
            <a:avLst/>
          </a:prstGeom>
          <a:noFill/>
        </p:spPr>
        <p:txBody>
          <a:bodyPr wrap="square" lIns="27432" rIns="27432" tIns="27432" bIns="27432" anchor="t">
            <a:spAutoFit/>
          </a:bodyPr>
          <a:lstStyle/>
          <a:p>
            <a:pPr algn="l">
              <a:spcAft>
                <a:spcPts val="0"/>
              </a:spcAft>
            </a:pPr>
            <a:r>
              <a:rPr sz="1100" b="1">
                <a:solidFill>
                  <a:srgbClr val="FFFFFF"/>
                </a:solidFill>
                <a:latin typeface="Arial"/>
              </a:rPr>
              <a:t>REVIEW QUESTION</a:t>
            </a:r>
          </a:p>
        </p:txBody>
      </p:sp>
      <p:sp>
        <p:nvSpPr>
          <p:cNvPr id="16" name="Rectangle 15"/>
          <p:cNvSpPr/>
          <p:nvPr/>
        </p:nvSpPr>
        <p:spPr>
          <a:xfrm>
            <a:off x="658368" y="2249424"/>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359152"/>
            <a:ext cx="2103120" cy="49377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Requirement ID</a:t>
            </a:r>
          </a:p>
        </p:txBody>
      </p:sp>
      <p:sp>
        <p:nvSpPr>
          <p:cNvPr id="18" name="Rectangle 17"/>
          <p:cNvSpPr/>
          <p:nvPr/>
        </p:nvSpPr>
        <p:spPr>
          <a:xfrm>
            <a:off x="2990087" y="2249424"/>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18103" y="2359152"/>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REQ-001 stable identifier</a:t>
            </a:r>
          </a:p>
        </p:txBody>
      </p:sp>
      <p:sp>
        <p:nvSpPr>
          <p:cNvPr id="20" name="Rectangle 19"/>
          <p:cNvSpPr/>
          <p:nvPr/>
        </p:nvSpPr>
        <p:spPr>
          <a:xfrm>
            <a:off x="8202167" y="2249424"/>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359152"/>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Where is this enforced?</a:t>
            </a:r>
          </a:p>
        </p:txBody>
      </p:sp>
      <p:sp>
        <p:nvSpPr>
          <p:cNvPr id="22" name="Rectangle 21"/>
          <p:cNvSpPr/>
          <p:nvPr/>
        </p:nvSpPr>
        <p:spPr>
          <a:xfrm>
            <a:off x="658368" y="2907791"/>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17520"/>
            <a:ext cx="2103120" cy="49377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Decision</a:t>
            </a:r>
          </a:p>
        </p:txBody>
      </p:sp>
      <p:sp>
        <p:nvSpPr>
          <p:cNvPr id="24" name="Rectangle 23"/>
          <p:cNvSpPr/>
          <p:nvPr/>
        </p:nvSpPr>
        <p:spPr>
          <a:xfrm>
            <a:off x="2990087" y="2907791"/>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18103" y="3017520"/>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ADR-0001 accepted/rejected options</a:t>
            </a:r>
          </a:p>
        </p:txBody>
      </p:sp>
      <p:sp>
        <p:nvSpPr>
          <p:cNvPr id="26" name="Rectangle 25"/>
          <p:cNvSpPr/>
          <p:nvPr/>
        </p:nvSpPr>
        <p:spPr>
          <a:xfrm>
            <a:off x="8202167" y="2907791"/>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3017520"/>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is observable?</a:t>
            </a:r>
          </a:p>
        </p:txBody>
      </p:sp>
      <p:sp>
        <p:nvSpPr>
          <p:cNvPr id="28" name="Rectangle 27"/>
          <p:cNvSpPr/>
          <p:nvPr/>
        </p:nvSpPr>
        <p:spPr>
          <a:xfrm>
            <a:off x="658368" y="3566160"/>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675887"/>
            <a:ext cx="2103120" cy="49377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Component</a:t>
            </a:r>
          </a:p>
        </p:txBody>
      </p:sp>
      <p:sp>
        <p:nvSpPr>
          <p:cNvPr id="30" name="Rectangle 29"/>
          <p:cNvSpPr/>
          <p:nvPr/>
        </p:nvSpPr>
        <p:spPr>
          <a:xfrm>
            <a:off x="2990087" y="3566160"/>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18103" y="3675887"/>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owner and responsibility</a:t>
            </a:r>
          </a:p>
        </p:txBody>
      </p:sp>
      <p:sp>
        <p:nvSpPr>
          <p:cNvPr id="32" name="Rectangle 31"/>
          <p:cNvSpPr/>
          <p:nvPr/>
        </p:nvSpPr>
        <p:spPr>
          <a:xfrm>
            <a:off x="8202167" y="3566160"/>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3675887"/>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Who owns the value?</a:t>
            </a:r>
          </a:p>
        </p:txBody>
      </p:sp>
      <p:sp>
        <p:nvSpPr>
          <p:cNvPr id="34" name="Rectangle 33"/>
          <p:cNvSpPr/>
          <p:nvPr/>
        </p:nvSpPr>
        <p:spPr>
          <a:xfrm>
            <a:off x="658368" y="4224528"/>
            <a:ext cx="23317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334256"/>
            <a:ext cx="2103120" cy="49377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Interface</a:t>
            </a:r>
          </a:p>
        </p:txBody>
      </p:sp>
      <p:sp>
        <p:nvSpPr>
          <p:cNvPr id="36" name="Rectangle 35"/>
          <p:cNvSpPr/>
          <p:nvPr/>
        </p:nvSpPr>
        <p:spPr>
          <a:xfrm>
            <a:off x="2990087" y="4224528"/>
            <a:ext cx="521208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18103" y="4334256"/>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method/path/schema/status</a:t>
            </a:r>
          </a:p>
        </p:txBody>
      </p:sp>
      <p:sp>
        <p:nvSpPr>
          <p:cNvPr id="38" name="Rectangle 37"/>
          <p:cNvSpPr/>
          <p:nvPr/>
        </p:nvSpPr>
        <p:spPr>
          <a:xfrm>
            <a:off x="8202167" y="4224528"/>
            <a:ext cx="3017520"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0183" y="4334256"/>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rejects invalid input?</a:t>
            </a:r>
          </a:p>
        </p:txBody>
      </p:sp>
      <p:sp>
        <p:nvSpPr>
          <p:cNvPr id="40" name="Rectangle 39"/>
          <p:cNvSpPr/>
          <p:nvPr/>
        </p:nvSpPr>
        <p:spPr>
          <a:xfrm>
            <a:off x="658368" y="4882896"/>
            <a:ext cx="23317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992624"/>
            <a:ext cx="2103120" cy="493776"/>
          </a:xfrm>
          <a:prstGeom prst="rect">
            <a:avLst/>
          </a:prstGeom>
          <a:noFill/>
        </p:spPr>
        <p:txBody>
          <a:bodyPr wrap="square" lIns="27432" rIns="27432" tIns="27432" bIns="27432" anchor="t">
            <a:spAutoFit/>
          </a:bodyPr>
          <a:lstStyle/>
          <a:p>
            <a:pPr algn="l">
              <a:spcAft>
                <a:spcPts val="0"/>
              </a:spcAft>
            </a:pPr>
            <a:r>
              <a:rPr sz="1200" b="1">
                <a:solidFill>
                  <a:srgbClr val="C77600"/>
                </a:solidFill>
                <a:latin typeface="Arial"/>
              </a:rPr>
              <a:t>Verification</a:t>
            </a:r>
          </a:p>
        </p:txBody>
      </p:sp>
      <p:sp>
        <p:nvSpPr>
          <p:cNvPr id="42" name="Rectangle 41"/>
          <p:cNvSpPr/>
          <p:nvPr/>
        </p:nvSpPr>
        <p:spPr>
          <a:xfrm>
            <a:off x="2990087" y="4882896"/>
            <a:ext cx="521208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18103" y="4992624"/>
            <a:ext cx="498348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test ID, result and build SHA</a:t>
            </a:r>
          </a:p>
        </p:txBody>
      </p:sp>
      <p:sp>
        <p:nvSpPr>
          <p:cNvPr id="44" name="Rectangle 43"/>
          <p:cNvSpPr/>
          <p:nvPr/>
        </p:nvSpPr>
        <p:spPr>
          <a:xfrm>
            <a:off x="8202167" y="4882896"/>
            <a:ext cx="3017520"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0183" y="4992624"/>
            <a:ext cx="2788920" cy="493776"/>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What must remain stable?</a:t>
            </a:r>
          </a:p>
        </p:txBody>
      </p:sp>
      <p:sp>
        <p:nvSpPr>
          <p:cNvPr id="46" name="Rectangle 45"/>
          <p:cNvSpPr/>
          <p:nvPr/>
        </p:nvSpPr>
        <p:spPr>
          <a:xfrm>
            <a:off x="658368" y="5696712"/>
            <a:ext cx="10561320"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 y="5769864"/>
            <a:ext cx="10149840" cy="201168"/>
          </a:xfrm>
          <a:prstGeom prst="rect">
            <a:avLst/>
          </a:prstGeom>
          <a:noFill/>
        </p:spPr>
        <p:txBody>
          <a:bodyPr wrap="square" lIns="27432" rIns="27432" tIns="27432" bIns="27432" anchor="t">
            <a:spAutoFit/>
          </a:bodyPr>
          <a:lstStyle/>
          <a:p>
            <a:pPr algn="l">
              <a:spcAft>
                <a:spcPts val="0"/>
              </a:spcAft>
            </a:pPr>
            <a:r>
              <a:rPr sz="1100" b="1">
                <a:solidFill>
                  <a:srgbClr val="161B26"/>
                </a:solidFill>
                <a:latin typeface="Arial"/>
              </a:rPr>
              <a:t>Vibe-coding gate: accept generated code only when every contract row is visible in code, tests, or runtime evidence.</a:t>
            </a:r>
          </a:p>
        </p:txBody>
      </p:sp>
    </p:spTree>
  </p:cSld>
  <p:clrMapOvr>
    <a:masterClrMapping/>
  </p:clrMapOvr>
  <p:transition spd="fast">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C2413A"/>
                </a:solidFill>
                <a:latin typeface="Arial"/>
              </a:rPr>
              <a:t>TOPIC 5 · DIAGNOSE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ADR, C4 and requirements traceability · failure and recovery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214</a:t>
            </a:r>
          </a:p>
        </p:txBody>
      </p:sp>
      <p:sp>
        <p:nvSpPr>
          <p:cNvPr id="10" name="Rounded Rectangle 9"/>
          <p:cNvSpPr/>
          <p:nvPr/>
        </p:nvSpPr>
        <p:spPr>
          <a:xfrm>
            <a:off x="658368" y="1700784"/>
            <a:ext cx="5266944" cy="4315968"/>
          </a:xfrm>
          <a:prstGeom prst="roundRect">
            <a:avLst/>
          </a:prstGeom>
          <a:solidFill>
            <a:srgbClr val="FEF2F2"/>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44768" y="1700784"/>
            <a:ext cx="5349240" cy="4315968"/>
          </a:xfrm>
          <a:prstGeom prst="roundRect">
            <a:avLst/>
          </a:prstGeom>
          <a:solidFill>
            <a:srgbClr val="E8F7EE"/>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FAILURE SIGNAL → LIKELY CAUSE</a:t>
            </a:r>
          </a:p>
        </p:txBody>
      </p:sp>
      <p:sp>
        <p:nvSpPr>
          <p:cNvPr id="13" name="TextBox 12"/>
          <p:cNvSpPr txBox="1"/>
          <p:nvPr/>
        </p:nvSpPr>
        <p:spPr>
          <a:xfrm>
            <a:off x="6419088" y="1901952"/>
            <a:ext cx="470916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 EVIDENCE</a:t>
            </a:r>
          </a:p>
        </p:txBody>
      </p:sp>
      <p:sp>
        <p:nvSpPr>
          <p:cNvPr id="14" name="Oval 13"/>
          <p:cNvSpPr/>
          <p:nvPr/>
        </p:nvSpPr>
        <p:spPr>
          <a:xfrm>
            <a:off x="932688" y="244144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14600"/>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6" name="TextBox 15"/>
          <p:cNvSpPr txBox="1"/>
          <p:nvPr/>
        </p:nvSpPr>
        <p:spPr>
          <a:xfrm>
            <a:off x="1435608" y="2432304"/>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Diagram only</a:t>
            </a:r>
          </a:p>
        </p:txBody>
      </p:sp>
      <p:sp>
        <p:nvSpPr>
          <p:cNvPr id="17" name="TextBox 16"/>
          <p:cNvSpPr txBox="1"/>
          <p:nvPr/>
        </p:nvSpPr>
        <p:spPr>
          <a:xfrm>
            <a:off x="2670048" y="2432304"/>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decision rationale or consequences</a:t>
            </a:r>
          </a:p>
        </p:txBody>
      </p:sp>
      <p:sp>
        <p:nvSpPr>
          <p:cNvPr id="18" name="Oval 17"/>
          <p:cNvSpPr/>
          <p:nvPr/>
        </p:nvSpPr>
        <p:spPr>
          <a:xfrm>
            <a:off x="932688"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73552"/>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35608" y="3191256"/>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Orphan test</a:t>
            </a:r>
          </a:p>
        </p:txBody>
      </p:sp>
      <p:sp>
        <p:nvSpPr>
          <p:cNvPr id="21" name="TextBox 20"/>
          <p:cNvSpPr txBox="1"/>
          <p:nvPr/>
        </p:nvSpPr>
        <p:spPr>
          <a:xfrm>
            <a:off x="2670048" y="3191256"/>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evidence maps to no requirement</a:t>
            </a:r>
          </a:p>
        </p:txBody>
      </p:sp>
      <p:sp>
        <p:nvSpPr>
          <p:cNvPr id="22" name="Oval 21"/>
          <p:cNvSpPr/>
          <p:nvPr/>
        </p:nvSpPr>
        <p:spPr>
          <a:xfrm>
            <a:off x="932688" y="395935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032504"/>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4" name="TextBox 23"/>
          <p:cNvSpPr txBox="1"/>
          <p:nvPr/>
        </p:nvSpPr>
        <p:spPr>
          <a:xfrm>
            <a:off x="1435608" y="3950208"/>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Stale contract</a:t>
            </a:r>
          </a:p>
        </p:txBody>
      </p:sp>
      <p:sp>
        <p:nvSpPr>
          <p:cNvPr id="25" name="TextBox 24"/>
          <p:cNvSpPr txBox="1"/>
          <p:nvPr/>
        </p:nvSpPr>
        <p:spPr>
          <a:xfrm>
            <a:off x="2670048" y="3950208"/>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OpenAPI differs from deployed endpoint</a:t>
            </a:r>
          </a:p>
        </p:txBody>
      </p:sp>
      <p:sp>
        <p:nvSpPr>
          <p:cNvPr id="26" name="Oval 25"/>
          <p:cNvSpPr/>
          <p:nvPr/>
        </p:nvSpPr>
        <p:spPr>
          <a:xfrm>
            <a:off x="932688" y="4718304"/>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791456"/>
            <a:ext cx="347472"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8" name="TextBox 27"/>
          <p:cNvSpPr txBox="1"/>
          <p:nvPr/>
        </p:nvSpPr>
        <p:spPr>
          <a:xfrm>
            <a:off x="1435608" y="4709160"/>
            <a:ext cx="1234440" cy="237744"/>
          </a:xfrm>
          <a:prstGeom prst="rect">
            <a:avLst/>
          </a:prstGeom>
          <a:noFill/>
        </p:spPr>
        <p:txBody>
          <a:bodyPr wrap="square" lIns="27432" rIns="27432" tIns="27432" bIns="27432" anchor="t">
            <a:spAutoFit/>
          </a:bodyPr>
          <a:lstStyle/>
          <a:p>
            <a:pPr algn="l">
              <a:spcAft>
                <a:spcPts val="0"/>
              </a:spcAft>
            </a:pPr>
            <a:r>
              <a:rPr sz="1150" b="1">
                <a:solidFill>
                  <a:srgbClr val="C2413A"/>
                </a:solidFill>
                <a:latin typeface="Arial"/>
              </a:rPr>
              <a:t>Missing owner</a:t>
            </a:r>
          </a:p>
        </p:txBody>
      </p:sp>
      <p:sp>
        <p:nvSpPr>
          <p:cNvPr id="29" name="TextBox 28"/>
          <p:cNvSpPr txBox="1"/>
          <p:nvPr/>
        </p:nvSpPr>
        <p:spPr>
          <a:xfrm>
            <a:off x="2670048" y="4709160"/>
            <a:ext cx="2788920" cy="493776"/>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component boundary cannot be governed</a:t>
            </a:r>
          </a:p>
        </p:txBody>
      </p:sp>
      <p:sp>
        <p:nvSpPr>
          <p:cNvPr id="30" name="Oval 29"/>
          <p:cNvSpPr/>
          <p:nvPr/>
        </p:nvSpPr>
        <p:spPr>
          <a:xfrm>
            <a:off x="6419088" y="246888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560320"/>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2" name="TextBox 31"/>
          <p:cNvSpPr txBox="1"/>
          <p:nvPr/>
        </p:nvSpPr>
        <p:spPr>
          <a:xfrm>
            <a:off x="7004304" y="2478024"/>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Every LO requirement maps to component and test</a:t>
            </a:r>
          </a:p>
        </p:txBody>
      </p:sp>
      <p:sp>
        <p:nvSpPr>
          <p:cNvPr id="33" name="Oval 32"/>
          <p:cNvSpPr/>
          <p:nvPr/>
        </p:nvSpPr>
        <p:spPr>
          <a:xfrm>
            <a:off x="6419088" y="340156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3493008"/>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5" name="TextBox 34"/>
          <p:cNvSpPr txBox="1"/>
          <p:nvPr/>
        </p:nvSpPr>
        <p:spPr>
          <a:xfrm>
            <a:off x="7004304" y="3410712"/>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ADR names at least one rejected option</a:t>
            </a:r>
          </a:p>
        </p:txBody>
      </p:sp>
      <p:sp>
        <p:nvSpPr>
          <p:cNvPr id="36" name="Oval 35"/>
          <p:cNvSpPr/>
          <p:nvPr/>
        </p:nvSpPr>
        <p:spPr>
          <a:xfrm>
            <a:off x="6419088" y="433425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2569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a:t>
            </a:r>
          </a:p>
        </p:txBody>
      </p:sp>
      <p:sp>
        <p:nvSpPr>
          <p:cNvPr id="38" name="TextBox 37"/>
          <p:cNvSpPr txBox="1"/>
          <p:nvPr/>
        </p:nvSpPr>
        <p:spPr>
          <a:xfrm>
            <a:off x="7004304" y="4343400"/>
            <a:ext cx="4069080" cy="566928"/>
          </a:xfrm>
          <a:prstGeom prst="rect">
            <a:avLst/>
          </a:prstGeom>
          <a:noFill/>
        </p:spPr>
        <p:txBody>
          <a:bodyPr wrap="square" lIns="27432" rIns="27432" tIns="27432" bIns="27432" anchor="t">
            <a:spAutoFit/>
          </a:bodyPr>
          <a:lstStyle/>
          <a:p>
            <a:pPr algn="l">
              <a:spcAft>
                <a:spcPts val="0"/>
              </a:spcAft>
            </a:pPr>
            <a:r>
              <a:rPr sz="1150" b="0">
                <a:solidFill>
                  <a:srgbClr val="161B26"/>
                </a:solidFill>
                <a:latin typeface="Arial"/>
              </a:rPr>
              <a:t>OpenAPI hash matches released build</a:t>
            </a:r>
          </a:p>
        </p:txBody>
      </p:sp>
      <p:sp>
        <p:nvSpPr>
          <p:cNvPr id="39" name="Rectangle 38"/>
          <p:cNvSpPr/>
          <p:nvPr/>
        </p:nvSpPr>
        <p:spPr>
          <a:xfrm>
            <a:off x="6419088" y="5276088"/>
            <a:ext cx="4526280" cy="393192"/>
          </a:xfrm>
          <a:prstGeom prst="rect">
            <a:avLst/>
          </a:prstGeom>
          <a:solidFill>
            <a:srgbClr val="FFFFFF"/>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5358384"/>
            <a:ext cx="4114800" cy="182880"/>
          </a:xfrm>
          <a:prstGeom prst="rect">
            <a:avLst/>
          </a:prstGeom>
          <a:noFill/>
        </p:spPr>
        <p:txBody>
          <a:bodyPr wrap="square" lIns="27432" rIns="27432" tIns="27432" bIns="27432" anchor="t">
            <a:spAutoFit/>
          </a:bodyPr>
          <a:lstStyle/>
          <a:p>
            <a:pPr algn="ctr">
              <a:spcAft>
                <a:spcPts val="0"/>
              </a:spcAft>
            </a:pPr>
            <a:r>
              <a:rPr sz="1000" b="1">
                <a:solidFill>
                  <a:srgbClr val="16845B"/>
                </a:solidFill>
                <a:latin typeface="Arial"/>
              </a:rPr>
              <a:t>Record URL · command · status · build SHA</a:t>
            </a:r>
          </a:p>
        </p:txBody>
      </p:sp>
    </p:spTree>
  </p:cSld>
  <p:clrMapOvr>
    <a:masterClrMapping/>
  </p:clrMapOvr>
  <p:transition spd="fast">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TOPIC 5 · EDITABLE NATIVE CHART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LO5 evidence profile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215</a:t>
            </a:r>
          </a:p>
        </p:txBody>
      </p:sp>
      <p:graphicFrame>
        <p:nvGraphicFramePr>
          <p:cNvPr id="10" name="Chart 9"/>
          <p:cNvGraphicFramePr>
            <a:graphicFrameLocks noGrp="1"/>
          </p:cNvGraphicFramePr>
          <p:nvPr/>
        </p:nvGraphicFramePr>
        <p:xfrm>
          <a:off x="777240" y="1755648"/>
          <a:ext cx="6629400" cy="4069080"/>
        </p:xfrm>
        <a:graphic>
          <a:graphicData uri="http://schemas.openxmlformats.org/drawingml/2006/chart">
            <c:chart xmlns:c="http://schemas.openxmlformats.org/drawingml/2006/chart" r:id="rId2"/>
          </a:graphicData>
        </a:graphic>
      </p:graphicFrame>
      <p:sp>
        <p:nvSpPr>
          <p:cNvPr id="11" name="Rounded Rectangle 10"/>
          <p:cNvSpPr/>
          <p:nvPr/>
        </p:nvSpPr>
        <p:spPr>
          <a:xfrm>
            <a:off x="7726679" y="1755648"/>
            <a:ext cx="3767328" cy="406908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00400" cy="301752"/>
          </a:xfrm>
          <a:prstGeom prst="rect">
            <a:avLst/>
          </a:prstGeom>
          <a:noFill/>
        </p:spPr>
        <p:txBody>
          <a:bodyPr wrap="square" lIns="27432" rIns="27432" tIns="27432" bIns="27432" anchor="t">
            <a:spAutoFit/>
          </a:bodyPr>
          <a:lstStyle/>
          <a:p>
            <a:pPr algn="l">
              <a:spcAft>
                <a:spcPts val="0"/>
              </a:spcAft>
            </a:pPr>
            <a:r>
              <a:rPr sz="1300" b="1">
                <a:solidFill>
                  <a:srgbClr val="1F6FEB"/>
                </a:solidFill>
                <a:latin typeface="Arial"/>
              </a:rPr>
              <a:t>WHAT THE DATA SHOWS</a:t>
            </a:r>
          </a:p>
        </p:txBody>
      </p:sp>
      <p:sp>
        <p:nvSpPr>
          <p:cNvPr id="13" name="TextBox 12"/>
          <p:cNvSpPr txBox="1"/>
          <p:nvPr/>
        </p:nvSpPr>
        <p:spPr>
          <a:xfrm>
            <a:off x="8028431" y="2578608"/>
            <a:ext cx="3154680" cy="1051560"/>
          </a:xfrm>
          <a:prstGeom prst="rect">
            <a:avLst/>
          </a:prstGeom>
          <a:noFill/>
        </p:spPr>
        <p:txBody>
          <a:bodyPr wrap="square" lIns="27432" rIns="27432" tIns="27432" bIns="27432" anchor="t">
            <a:spAutoFit/>
          </a:bodyPr>
          <a:lstStyle/>
          <a:p>
            <a:pPr algn="l">
              <a:spcAft>
                <a:spcPts val="0"/>
              </a:spcAft>
            </a:pPr>
            <a:r>
              <a:rPr sz="1700" b="1">
                <a:solidFill>
                  <a:srgbClr val="161B26"/>
                </a:solidFill>
                <a:latin typeface="Arial"/>
              </a:rPr>
              <a:t>A deployable artifact is not a release until evidence closes the design record.</a:t>
            </a:r>
          </a:p>
        </p:txBody>
      </p:sp>
      <p:sp>
        <p:nvSpPr>
          <p:cNvPr id="14" name="TextBox 13"/>
          <p:cNvSpPr txBox="1"/>
          <p:nvPr/>
        </p:nvSpPr>
        <p:spPr>
          <a:xfrm>
            <a:off x="8028431" y="3977639"/>
            <a:ext cx="3154680" cy="1234440"/>
          </a:xfrm>
          <a:prstGeom prst="rect">
            <a:avLst/>
          </a:prstGeom>
          <a:noFill/>
        </p:spPr>
        <p:txBody>
          <a:bodyPr wrap="square" lIns="27432" rIns="27432" tIns="27432" bIns="27432" anchor="t">
            <a:spAutoFit/>
          </a:bodyPr>
          <a:lstStyle/>
          <a:p>
            <a:pPr algn="l">
              <a:spcAft>
                <a:spcPts val="0"/>
              </a:spcAft>
            </a:pPr>
            <a:r>
              <a:rPr sz="1100" b="0">
                <a:solidFill>
                  <a:srgbClr val="5B6372"/>
                </a:solidFill>
                <a:latin typeface="Arial"/>
              </a:rPr>
              <a:t>Worked-example values are illustrative evidence counts, not industry benchmarks. Edit the native chart with the class results.</a:t>
            </a:r>
          </a:p>
        </p:txBody>
      </p:sp>
      <p:sp>
        <p:nvSpPr>
          <p:cNvPr id="15" name="Rounded Rectangle 14"/>
          <p:cNvSpPr/>
          <p:nvPr/>
        </p:nvSpPr>
        <p:spPr>
          <a:xfrm>
            <a:off x="8028431" y="5321808"/>
            <a:ext cx="1600200" cy="292608"/>
          </a:xfrm>
          <a:prstGeom prst="round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EDITABLE CHART</a:t>
            </a:r>
          </a:p>
        </p:txBody>
      </p:sp>
    </p:spTree>
  </p:cSld>
  <p:clrMapOvr>
    <a:masterClrMapping/>
  </p:clrMapOvr>
  <p:transition spd="fast">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5 · HANDS-ON ACTIVITY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9: Prepare an Azure-Ready Release</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216</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60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Create a production-neutral publish artifact with validated configuration, health endpoints and smoke evidence.</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Validate config</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Add health</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Publish Release</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Run clean artifact</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Smoke and record</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Release publish directory, health checks, deployment configuration matrix and smoke-test script</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activities/activity-09-production-readiness/src/LocalCRM · full commands in the Learner Guide</a:t>
            </a:r>
          </a:p>
        </p:txBody>
      </p:sp>
    </p:spTree>
  </p:cSld>
  <p:clrMapOvr>
    <a:masterClrMapping/>
  </p:clrMapOvr>
  <p:transition spd="fast">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5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9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217</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Prepare LocalCRM for Azure App Service without performing a live deployment. Add validated typed options, /health/live and /health/ready, structured startup logging, and a bash smoke script. Do not add credentials, an Azure resource or a portal-only step.</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5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9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218</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Release publish directory, health checks, deployment configuration matrix and smoke-test script.</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K5/A5 EVIDENCE</a:t>
            </a:r>
          </a:p>
        </p:txBody>
      </p:sp>
    </p:spTree>
  </p:cSld>
  <p:clrMapOvr>
    <a:masterClrMapping/>
  </p:clrMapOvr>
  <p:transition spd="fast">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TOPIC 5 · HANDS-ON ACTIVITY · LO5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500" b="1">
                <a:solidFill>
                  <a:srgbClr val="161B26"/>
                </a:solidFill>
                <a:latin typeface="Arial"/>
              </a:rPr>
              <a:t>Activity 10: Produce the Traceable Design and Release Record</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219</a:t>
            </a:r>
          </a:p>
        </p:txBody>
      </p:sp>
      <p:sp>
        <p:nvSpPr>
          <p:cNvPr id="10" name="Rounded Rectangle 9"/>
          <p:cNvSpPr/>
          <p:nvPr/>
        </p:nvSpPr>
        <p:spPr>
          <a:xfrm>
            <a:off x="9921240" y="274320"/>
            <a:ext cx="1417320" cy="292608"/>
          </a:xfrm>
          <a:prstGeom prst="round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21240" y="301751"/>
            <a:ext cx="141732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55 MIN</a:t>
            </a:r>
          </a:p>
        </p:txBody>
      </p:sp>
      <p:sp>
        <p:nvSpPr>
          <p:cNvPr id="12" name="TextBox 11"/>
          <p:cNvSpPr txBox="1"/>
          <p:nvPr/>
        </p:nvSpPr>
        <p:spPr>
          <a:xfrm>
            <a:off x="658368" y="1664208"/>
            <a:ext cx="10835640" cy="530352"/>
          </a:xfrm>
          <a:prstGeom prst="rect">
            <a:avLst/>
          </a:prstGeom>
          <a:noFill/>
        </p:spPr>
        <p:txBody>
          <a:bodyPr wrap="square" lIns="27432" rIns="27432" tIns="27432" bIns="27432" anchor="t">
            <a:spAutoFit/>
          </a:bodyPr>
          <a:lstStyle/>
          <a:p>
            <a:pPr algn="l">
              <a:spcAft>
                <a:spcPts val="0"/>
              </a:spcAft>
            </a:pPr>
            <a:r>
              <a:rPr sz="1500" b="0">
                <a:solidFill>
                  <a:srgbClr val="161B26"/>
                </a:solidFill>
                <a:latin typeface="Arial"/>
              </a:rPr>
              <a:t>Map user specifications to components, interface contracts, decisions and verification evidence.</a:t>
            </a:r>
          </a:p>
        </p:txBody>
      </p:sp>
      <p:sp>
        <p:nvSpPr>
          <p:cNvPr id="13" name="Rounded Rectangle 12"/>
          <p:cNvSpPr/>
          <p:nvPr/>
        </p:nvSpPr>
        <p:spPr>
          <a:xfrm>
            <a:off x="749808"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259689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1</a:t>
            </a:r>
          </a:p>
        </p:txBody>
      </p:sp>
      <p:sp>
        <p:nvSpPr>
          <p:cNvPr id="16" name="TextBox 15"/>
          <p:cNvSpPr txBox="1"/>
          <p:nvPr/>
        </p:nvSpPr>
        <p:spPr>
          <a:xfrm>
            <a:off x="1408176"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F6FEB"/>
                </a:solidFill>
                <a:latin typeface="Arial"/>
              </a:rPr>
              <a:t>Trace requirement</a:t>
            </a:r>
          </a:p>
        </p:txBody>
      </p:sp>
      <p:sp>
        <p:nvSpPr>
          <p:cNvPr id="17" name="TextBox 16"/>
          <p:cNvSpPr txBox="1"/>
          <p:nvPr/>
        </p:nvSpPr>
        <p:spPr>
          <a:xfrm>
            <a:off x="914400"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18" name="Connector 17"/>
          <p:cNvCxnSpPr/>
          <p:nvPr/>
        </p:nvCxnSpPr>
        <p:spPr>
          <a:xfrm>
            <a:off x="2596896" y="313639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35808" y="259689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35808"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2</a:t>
            </a:r>
          </a:p>
        </p:txBody>
      </p:sp>
      <p:sp>
        <p:nvSpPr>
          <p:cNvPr id="22" name="TextBox 21"/>
          <p:cNvSpPr txBox="1"/>
          <p:nvPr/>
        </p:nvSpPr>
        <p:spPr>
          <a:xfrm>
            <a:off x="3584448"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6D3FD2"/>
                </a:solidFill>
                <a:latin typeface="Arial"/>
              </a:rPr>
              <a:t>Draw boundaries</a:t>
            </a:r>
          </a:p>
        </p:txBody>
      </p:sp>
      <p:sp>
        <p:nvSpPr>
          <p:cNvPr id="23" name="TextBox 22"/>
          <p:cNvSpPr txBox="1"/>
          <p:nvPr/>
        </p:nvSpPr>
        <p:spPr>
          <a:xfrm>
            <a:off x="3090672"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24" name="Connector 23"/>
          <p:cNvCxnSpPr/>
          <p:nvPr/>
        </p:nvCxnSpPr>
        <p:spPr>
          <a:xfrm>
            <a:off x="4773168" y="313639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02352"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12080" y="25968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3</a:t>
            </a:r>
          </a:p>
        </p:txBody>
      </p:sp>
      <p:sp>
        <p:nvSpPr>
          <p:cNvPr id="28" name="TextBox 27"/>
          <p:cNvSpPr txBox="1"/>
          <p:nvPr/>
        </p:nvSpPr>
        <p:spPr>
          <a:xfrm>
            <a:off x="5760720"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08A73"/>
                </a:solidFill>
                <a:latin typeface="Arial"/>
              </a:rPr>
              <a:t>Record decision</a:t>
            </a:r>
          </a:p>
        </p:txBody>
      </p:sp>
      <p:sp>
        <p:nvSpPr>
          <p:cNvPr id="29" name="TextBox 28"/>
          <p:cNvSpPr txBox="1"/>
          <p:nvPr/>
        </p:nvSpPr>
        <p:spPr>
          <a:xfrm>
            <a:off x="5266944"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0" name="Connector 29"/>
          <p:cNvCxnSpPr/>
          <p:nvPr/>
        </p:nvCxnSpPr>
        <p:spPr>
          <a:xfrm>
            <a:off x="6949440" y="313639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8624"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88352" y="25968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4</a:t>
            </a:r>
          </a:p>
        </p:txBody>
      </p:sp>
      <p:sp>
        <p:nvSpPr>
          <p:cNvPr id="34" name="TextBox 33"/>
          <p:cNvSpPr txBox="1"/>
          <p:nvPr/>
        </p:nvSpPr>
        <p:spPr>
          <a:xfrm>
            <a:off x="7936992"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16845B"/>
                </a:solidFill>
                <a:latin typeface="Arial"/>
              </a:rPr>
              <a:t>Link evidence</a:t>
            </a:r>
          </a:p>
        </p:txBody>
      </p:sp>
      <p:sp>
        <p:nvSpPr>
          <p:cNvPr id="35" name="TextBox 34"/>
          <p:cNvSpPr txBox="1"/>
          <p:nvPr/>
        </p:nvSpPr>
        <p:spPr>
          <a:xfrm>
            <a:off x="7443216"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cxnSp>
        <p:nvCxnSpPr>
          <p:cNvPr id="36" name="Connector 35"/>
          <p:cNvCxnSpPr/>
          <p:nvPr/>
        </p:nvCxnSpPr>
        <p:spPr>
          <a:xfrm>
            <a:off x="9125712" y="313639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54896" y="2432304"/>
            <a:ext cx="1847088" cy="1408176"/>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564624" y="2596896"/>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4624" y="2688336"/>
            <a:ext cx="420624" cy="182880"/>
          </a:xfrm>
          <a:prstGeom prst="rect">
            <a:avLst/>
          </a:prstGeom>
          <a:noFill/>
        </p:spPr>
        <p:txBody>
          <a:bodyPr wrap="square" lIns="27432" rIns="27432" tIns="27432" bIns="27432" anchor="t">
            <a:spAutoFit/>
          </a:bodyPr>
          <a:lstStyle/>
          <a:p>
            <a:pPr algn="ctr">
              <a:spcAft>
                <a:spcPts val="0"/>
              </a:spcAft>
            </a:pPr>
            <a:r>
              <a:rPr sz="1200" b="1">
                <a:solidFill>
                  <a:srgbClr val="FFFFFF"/>
                </a:solidFill>
                <a:latin typeface="Arial"/>
              </a:rPr>
              <a:t>5</a:t>
            </a:r>
          </a:p>
        </p:txBody>
      </p:sp>
      <p:sp>
        <p:nvSpPr>
          <p:cNvPr id="40" name="TextBox 39"/>
          <p:cNvSpPr txBox="1"/>
          <p:nvPr/>
        </p:nvSpPr>
        <p:spPr>
          <a:xfrm>
            <a:off x="10113264" y="2587752"/>
            <a:ext cx="1060704" cy="594360"/>
          </a:xfrm>
          <a:prstGeom prst="rect">
            <a:avLst/>
          </a:prstGeom>
          <a:noFill/>
        </p:spPr>
        <p:txBody>
          <a:bodyPr wrap="square" lIns="27432" rIns="27432" tIns="27432" bIns="27432" anchor="t">
            <a:spAutoFit/>
          </a:bodyPr>
          <a:lstStyle/>
          <a:p>
            <a:pPr algn="l">
              <a:spcAft>
                <a:spcPts val="0"/>
              </a:spcAft>
            </a:pPr>
            <a:r>
              <a:rPr sz="1250" b="1">
                <a:solidFill>
                  <a:srgbClr val="C77600"/>
                </a:solidFill>
                <a:latin typeface="Arial"/>
              </a:rPr>
              <a:t>Review release</a:t>
            </a:r>
          </a:p>
        </p:txBody>
      </p:sp>
      <p:sp>
        <p:nvSpPr>
          <p:cNvPr id="41" name="TextBox 40"/>
          <p:cNvSpPr txBox="1"/>
          <p:nvPr/>
        </p:nvSpPr>
        <p:spPr>
          <a:xfrm>
            <a:off x="9619488" y="3273552"/>
            <a:ext cx="1527048" cy="310896"/>
          </a:xfrm>
          <a:prstGeom prst="rect">
            <a:avLst/>
          </a:prstGeom>
          <a:noFill/>
        </p:spPr>
        <p:txBody>
          <a:bodyPr wrap="square" lIns="27432" rIns="27432" tIns="27432" bIns="27432" anchor="t">
            <a:spAutoFit/>
          </a:bodyPr>
          <a:lstStyle/>
          <a:p>
            <a:pPr algn="ctr">
              <a:spcAft>
                <a:spcPts val="0"/>
              </a:spcAft>
            </a:pPr>
            <a:r>
              <a:rPr sz="950" b="0">
                <a:solidFill>
                  <a:srgbClr val="5B6372"/>
                </a:solidFill>
                <a:latin typeface="Arial"/>
              </a:rPr>
              <a:t>Evidence checkpoint</a:t>
            </a:r>
          </a:p>
        </p:txBody>
      </p:sp>
      <p:sp>
        <p:nvSpPr>
          <p:cNvPr id="42" name="Rounded Rectangle 41"/>
          <p:cNvSpPr/>
          <p:nvPr/>
        </p:nvSpPr>
        <p:spPr>
          <a:xfrm>
            <a:off x="658368" y="4224528"/>
            <a:ext cx="10835640" cy="123444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25696"/>
            <a:ext cx="1691640" cy="228600"/>
          </a:xfrm>
          <a:prstGeom prst="rect">
            <a:avLst/>
          </a:prstGeom>
          <a:noFill/>
        </p:spPr>
        <p:txBody>
          <a:bodyPr wrap="square" lIns="27432" rIns="27432" tIns="27432" bIns="27432" anchor="t">
            <a:spAutoFit/>
          </a:bodyPr>
          <a:lstStyle/>
          <a:p>
            <a:pPr algn="l">
              <a:spcAft>
                <a:spcPts val="0"/>
              </a:spcAft>
            </a:pPr>
            <a:r>
              <a:rPr sz="1100" b="1">
                <a:solidFill>
                  <a:srgbClr val="16845B"/>
                </a:solidFill>
                <a:latin typeface="Arial"/>
              </a:rPr>
              <a:t>YOU'LL PRODUCE</a:t>
            </a:r>
          </a:p>
        </p:txBody>
      </p:sp>
      <p:sp>
        <p:nvSpPr>
          <p:cNvPr id="44" name="TextBox 43"/>
          <p:cNvSpPr txBox="1"/>
          <p:nvPr/>
        </p:nvSpPr>
        <p:spPr>
          <a:xfrm>
            <a:off x="2596896" y="4352544"/>
            <a:ext cx="8458200" cy="475488"/>
          </a:xfrm>
          <a:prstGeom prst="rect">
            <a:avLst/>
          </a:prstGeom>
          <a:noFill/>
        </p:spPr>
        <p:txBody>
          <a:bodyPr wrap="square" lIns="27432" rIns="27432" tIns="27432" bIns="27432" anchor="t">
            <a:spAutoFit/>
          </a:bodyPr>
          <a:lstStyle/>
          <a:p>
            <a:pPr algn="l">
              <a:spcAft>
                <a:spcPts val="0"/>
              </a:spcAft>
            </a:pPr>
            <a:r>
              <a:rPr sz="1400" b="1">
                <a:solidFill>
                  <a:srgbClr val="161B26"/>
                </a:solidFill>
                <a:latin typeface="Arial"/>
              </a:rPr>
              <a:t>C4-style diagrams, ADR, requirements traceability matrix, API contract hash and release checklist</a:t>
            </a:r>
          </a:p>
        </p:txBody>
      </p:sp>
      <p:sp>
        <p:nvSpPr>
          <p:cNvPr id="45" name="TextBox 44"/>
          <p:cNvSpPr txBox="1"/>
          <p:nvPr/>
        </p:nvSpPr>
        <p:spPr>
          <a:xfrm>
            <a:off x="914400" y="5029200"/>
            <a:ext cx="10058400" cy="228600"/>
          </a:xfrm>
          <a:prstGeom prst="rect">
            <a:avLst/>
          </a:prstGeom>
          <a:noFill/>
        </p:spPr>
        <p:txBody>
          <a:bodyPr wrap="square" lIns="27432" rIns="27432" tIns="27432" bIns="27432" anchor="t">
            <a:spAutoFit/>
          </a:bodyPr>
          <a:lstStyle/>
          <a:p>
            <a:pPr algn="l">
              <a:spcAft>
                <a:spcPts val="0"/>
              </a:spcAft>
            </a:pPr>
            <a:r>
              <a:rPr sz="950" b="0">
                <a:solidFill>
                  <a:srgbClr val="5B6372"/>
                </a:solidFill>
                <a:latin typeface="Arial"/>
              </a:rPr>
              <a:t>Local snapshot: activities/activity-10-design-documentation/src/LocalCRM · full commands in the Learner Guide</a:t>
            </a:r>
          </a:p>
        </p:txBody>
      </p:sp>
    </p:spTree>
  </p:cSld>
  <p:clrMapOvr>
    <a:masterClrMapping/>
  </p:clrMapOvr>
  <p:transition spd="fast">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TOPIC 5 · VIBE SCRIPT + BOUNDARY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10 · reviewed AI contract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220</a:t>
            </a:r>
          </a:p>
        </p:txBody>
      </p:sp>
      <p:sp>
        <p:nvSpPr>
          <p:cNvPr id="10" name="Rounded Rectangle 9"/>
          <p:cNvSpPr/>
          <p:nvPr/>
        </p:nvSpPr>
        <p:spPr>
          <a:xfrm>
            <a:off x="658368" y="1719072"/>
            <a:ext cx="6492240" cy="3584448"/>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89320" cy="274320"/>
          </a:xfrm>
          <a:prstGeom prst="rect">
            <a:avLst/>
          </a:prstGeom>
          <a:noFill/>
        </p:spPr>
        <p:txBody>
          <a:bodyPr wrap="square" lIns="27432" rIns="27432" tIns="27432" bIns="27432" anchor="t">
            <a:spAutoFit/>
          </a:bodyPr>
          <a:lstStyle/>
          <a:p>
            <a:pPr algn="l">
              <a:spcAft>
                <a:spcPts val="0"/>
              </a:spcAft>
            </a:pPr>
            <a:r>
              <a:rPr sz="1000" b="1">
                <a:solidFill>
                  <a:srgbClr val="9CDCFE"/>
                </a:solidFill>
                <a:latin typeface="Arial"/>
              </a:rPr>
              <a:t>VIBE SCRIPT · COPY EXACTLY</a:t>
            </a:r>
          </a:p>
        </p:txBody>
      </p:sp>
      <p:sp>
        <p:nvSpPr>
          <p:cNvPr id="12" name="TextBox 11"/>
          <p:cNvSpPr txBox="1"/>
          <p:nvPr/>
        </p:nvSpPr>
        <p:spPr>
          <a:xfrm>
            <a:off x="896112" y="2331720"/>
            <a:ext cx="5925312" cy="2514600"/>
          </a:xfrm>
          <a:prstGeom prst="rect">
            <a:avLst/>
          </a:prstGeom>
          <a:noFill/>
        </p:spPr>
        <p:txBody>
          <a:bodyPr wrap="square" lIns="27432" rIns="27432" tIns="27432" bIns="27432" anchor="t">
            <a:spAutoFit/>
          </a:bodyPr>
          <a:lstStyle/>
          <a:p>
            <a:pPr algn="l">
              <a:spcAft>
                <a:spcPts val="0"/>
              </a:spcAft>
            </a:pPr>
            <a:r>
              <a:rPr sz="1300" b="0">
                <a:solidFill>
                  <a:srgbClr val="D6E7FF"/>
                </a:solidFill>
                <a:latin typeface="Arial"/>
              </a:rPr>
              <a:t>Using requirements.md, component-map.md, openapi-v1.json and the Activity evidence, draft ADR-0001 and a traceability matrix. Every requirement must map to a component, interface or page, control, test/evidence and status. Mark gaps; do not invent evidence.</a:t>
            </a:r>
          </a:p>
        </p:txBody>
      </p:sp>
      <p:sp>
        <p:nvSpPr>
          <p:cNvPr id="13" name="Rounded Rectangle 12"/>
          <p:cNvSpPr/>
          <p:nvPr/>
        </p:nvSpPr>
        <p:spPr>
          <a:xfrm>
            <a:off x="7406640" y="1719072"/>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26096" y="1901952"/>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1984248"/>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6" name="TextBox 15"/>
          <p:cNvSpPr txBox="1"/>
          <p:nvPr/>
        </p:nvSpPr>
        <p:spPr>
          <a:xfrm>
            <a:off x="8156448" y="1828800"/>
            <a:ext cx="914400" cy="219456"/>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Scope</a:t>
            </a:r>
          </a:p>
        </p:txBody>
      </p:sp>
      <p:sp>
        <p:nvSpPr>
          <p:cNvPr id="17" name="TextBox 16"/>
          <p:cNvSpPr txBox="1"/>
          <p:nvPr/>
        </p:nvSpPr>
        <p:spPr>
          <a:xfrm>
            <a:off x="9015984" y="1828800"/>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Only named files and component boundary</a:t>
            </a:r>
          </a:p>
        </p:txBody>
      </p:sp>
      <p:sp>
        <p:nvSpPr>
          <p:cNvPr id="18" name="Rounded Rectangle 17"/>
          <p:cNvSpPr/>
          <p:nvPr/>
        </p:nvSpPr>
        <p:spPr>
          <a:xfrm>
            <a:off x="7406640" y="2660904"/>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26096" y="2843784"/>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2926080"/>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1" name="TextBox 20"/>
          <p:cNvSpPr txBox="1"/>
          <p:nvPr/>
        </p:nvSpPr>
        <p:spPr>
          <a:xfrm>
            <a:off x="8156448" y="2770632"/>
            <a:ext cx="914400" cy="219456"/>
          </a:xfrm>
          <a:prstGeom prst="rect">
            <a:avLst/>
          </a:prstGeom>
          <a:noFill/>
        </p:spPr>
        <p:txBody>
          <a:bodyPr wrap="square" lIns="27432" rIns="27432" tIns="27432" bIns="27432" anchor="t">
            <a:spAutoFit/>
          </a:bodyPr>
          <a:lstStyle/>
          <a:p>
            <a:pPr algn="l">
              <a:spcAft>
                <a:spcPts val="0"/>
              </a:spcAft>
            </a:pPr>
            <a:r>
              <a:rPr sz="1200" b="1">
                <a:solidFill>
                  <a:srgbClr val="6D3FD2"/>
                </a:solidFill>
                <a:latin typeface="Arial"/>
              </a:rPr>
              <a:t>Version</a:t>
            </a:r>
          </a:p>
        </p:txBody>
      </p:sp>
      <p:sp>
        <p:nvSpPr>
          <p:cNvPr id="22" name="TextBox 21"/>
          <p:cNvSpPr txBox="1"/>
          <p:nvPr/>
        </p:nvSpPr>
        <p:spPr>
          <a:xfrm>
            <a:off x="9015984" y="2770632"/>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net10.0 APIs and pinned packages</a:t>
            </a:r>
          </a:p>
        </p:txBody>
      </p:sp>
      <p:sp>
        <p:nvSpPr>
          <p:cNvPr id="23" name="Rounded Rectangle 22"/>
          <p:cNvSpPr/>
          <p:nvPr/>
        </p:nvSpPr>
        <p:spPr>
          <a:xfrm>
            <a:off x="7406640" y="3602736"/>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26096" y="378561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6" y="3867911"/>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8156448" y="3712463"/>
            <a:ext cx="914400" cy="219456"/>
          </a:xfrm>
          <a:prstGeom prst="rect">
            <a:avLst/>
          </a:prstGeom>
          <a:noFill/>
        </p:spPr>
        <p:txBody>
          <a:bodyPr wrap="square" lIns="27432" rIns="27432" tIns="27432" bIns="27432" anchor="t">
            <a:spAutoFit/>
          </a:bodyPr>
          <a:lstStyle/>
          <a:p>
            <a:pPr algn="l">
              <a:spcAft>
                <a:spcPts val="0"/>
              </a:spcAft>
            </a:pPr>
            <a:r>
              <a:rPr sz="1200" b="1">
                <a:solidFill>
                  <a:srgbClr val="108A73"/>
                </a:solidFill>
                <a:latin typeface="Arial"/>
              </a:rPr>
              <a:t>Safety</a:t>
            </a:r>
          </a:p>
        </p:txBody>
      </p:sp>
      <p:sp>
        <p:nvSpPr>
          <p:cNvPr id="27" name="TextBox 26"/>
          <p:cNvSpPr txBox="1"/>
          <p:nvPr/>
        </p:nvSpPr>
        <p:spPr>
          <a:xfrm>
            <a:off x="9015984" y="3712463"/>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No credentials or hidden destructive step</a:t>
            </a:r>
          </a:p>
        </p:txBody>
      </p:sp>
      <p:sp>
        <p:nvSpPr>
          <p:cNvPr id="28" name="Rounded Rectangle 27"/>
          <p:cNvSpPr/>
          <p:nvPr/>
        </p:nvSpPr>
        <p:spPr>
          <a:xfrm>
            <a:off x="7406640" y="4544568"/>
            <a:ext cx="4087368" cy="804672"/>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6096" y="472744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6096" y="4809744"/>
            <a:ext cx="384048"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1" name="TextBox 30"/>
          <p:cNvSpPr txBox="1"/>
          <p:nvPr/>
        </p:nvSpPr>
        <p:spPr>
          <a:xfrm>
            <a:off x="8156448" y="4654296"/>
            <a:ext cx="914400" cy="219456"/>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Evidence</a:t>
            </a:r>
          </a:p>
        </p:txBody>
      </p:sp>
      <p:sp>
        <p:nvSpPr>
          <p:cNvPr id="32" name="TextBox 31"/>
          <p:cNvSpPr txBox="1"/>
          <p:nvPr/>
        </p:nvSpPr>
        <p:spPr>
          <a:xfrm>
            <a:off x="9015984" y="4654296"/>
            <a:ext cx="2148840" cy="457200"/>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Build, test and HTTP acceptance named</a:t>
            </a:r>
          </a:p>
        </p:txBody>
      </p:sp>
      <p:sp>
        <p:nvSpPr>
          <p:cNvPr id="33" name="Rectangle 32"/>
          <p:cNvSpPr/>
          <p:nvPr/>
        </p:nvSpPr>
        <p:spPr>
          <a:xfrm>
            <a:off x="658368" y="5532120"/>
            <a:ext cx="10835640"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650992"/>
            <a:ext cx="10332720" cy="201168"/>
          </a:xfrm>
          <a:prstGeom prst="rect">
            <a:avLst/>
          </a:prstGeom>
          <a:noFill/>
        </p:spPr>
        <p:txBody>
          <a:bodyPr wrap="square" lIns="27432" rIns="27432" tIns="27432" bIns="27432" anchor="t">
            <a:spAutoFit/>
          </a:bodyPr>
          <a:lstStyle/>
          <a:p>
            <a:pPr algn="l">
              <a:spcAft>
                <a:spcPts val="0"/>
              </a:spcAft>
            </a:pPr>
            <a:r>
              <a:rPr sz="1050" b="1">
                <a:solidFill>
                  <a:srgbClr val="161B26"/>
                </a:solidFill>
                <a:latin typeface="Arial"/>
              </a:rPr>
              <a:t>The prompt is an input, not evidence. Evidence begins after the generated diff is inspected and the local snapshot passes its checks.</a:t>
            </a:r>
          </a:p>
        </p:txBody>
      </p:sp>
    </p:spTree>
  </p:cSld>
  <p:clrMapOvr>
    <a:masterClrMapping/>
  </p:clrMapOvr>
  <p:transition spd="fast">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6845B"/>
                </a:solidFill>
                <a:latin typeface="Arial"/>
              </a:rPr>
              <a:t>TOPIC 5 · VERIFY</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Activity 10 · acceptance and diagnosis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221</a:t>
            </a:r>
          </a:p>
        </p:txBody>
      </p:sp>
      <p:sp>
        <p:nvSpPr>
          <p:cNvPr id="10" name="Rounded Rectangle 9"/>
          <p:cNvSpPr/>
          <p:nvPr/>
        </p:nvSpPr>
        <p:spPr>
          <a:xfrm>
            <a:off x="658368" y="1719072"/>
            <a:ext cx="6812280" cy="4160520"/>
          </a:xfrm>
          <a:prstGeom prst="roundRect">
            <a:avLst/>
          </a:prstGeom>
          <a:solidFill>
            <a:srgbClr val="E8F7EE"/>
          </a:solidFill>
          <a:ln w="12700">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6172200" cy="320040"/>
          </a:xfrm>
          <a:prstGeom prst="rect">
            <a:avLst/>
          </a:prstGeom>
          <a:noFill/>
        </p:spPr>
        <p:txBody>
          <a:bodyPr wrap="square" lIns="27432" rIns="27432" tIns="27432" bIns="27432" anchor="t">
            <a:spAutoFit/>
          </a:bodyPr>
          <a:lstStyle/>
          <a:p>
            <a:pPr algn="l">
              <a:spcAft>
                <a:spcPts val="0"/>
              </a:spcAft>
            </a:pPr>
            <a:r>
              <a:rPr sz="1400" b="1">
                <a:solidFill>
                  <a:srgbClr val="16845B"/>
                </a:solidFill>
                <a:latin typeface="Arial"/>
              </a:rPr>
              <a:t>ACCEPTANCE</a:t>
            </a:r>
          </a:p>
        </p:txBody>
      </p:sp>
      <p:sp>
        <p:nvSpPr>
          <p:cNvPr id="12" name="Oval 11"/>
          <p:cNvSpPr/>
          <p:nvPr/>
        </p:nvSpPr>
        <p:spPr>
          <a:xfrm>
            <a:off x="960120" y="2523744"/>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96896"/>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4" name="TextBox 13"/>
          <p:cNvSpPr txBox="1"/>
          <p:nvPr/>
        </p:nvSpPr>
        <p:spPr>
          <a:xfrm>
            <a:off x="1481328" y="2505456"/>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Activity's src/LocalCRM snapshot restores and starts locally.</a:t>
            </a:r>
          </a:p>
        </p:txBody>
      </p:sp>
      <p:sp>
        <p:nvSpPr>
          <p:cNvPr id="15" name="Oval 14"/>
          <p:cNvSpPr/>
          <p:nvPr/>
        </p:nvSpPr>
        <p:spPr>
          <a:xfrm>
            <a:off x="960120" y="3191256"/>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264408"/>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17" name="TextBox 16"/>
          <p:cNvSpPr txBox="1"/>
          <p:nvPr/>
        </p:nvSpPr>
        <p:spPr>
          <a:xfrm>
            <a:off x="1481328" y="3172968"/>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declared output exists: C4-style diagrams, ADR, requirements traceability matrix, API contract hash and release checklist.</a:t>
            </a:r>
          </a:p>
        </p:txBody>
      </p:sp>
      <p:sp>
        <p:nvSpPr>
          <p:cNvPr id="18" name="Oval 17"/>
          <p:cNvSpPr/>
          <p:nvPr/>
        </p:nvSpPr>
        <p:spPr>
          <a:xfrm>
            <a:off x="960120" y="3858768"/>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0" name="TextBox 19"/>
          <p:cNvSpPr txBox="1"/>
          <p:nvPr/>
        </p:nvSpPr>
        <p:spPr>
          <a:xfrm>
            <a:off x="1481328" y="3840480"/>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Positive and negative paths produce the documented status or UI state.</a:t>
            </a:r>
          </a:p>
        </p:txBody>
      </p:sp>
      <p:sp>
        <p:nvSpPr>
          <p:cNvPr id="21" name="Oval 20"/>
          <p:cNvSpPr/>
          <p:nvPr/>
        </p:nvSpPr>
        <p:spPr>
          <a:xfrm>
            <a:off x="960120" y="4526279"/>
            <a:ext cx="365760" cy="36576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99431"/>
            <a:ext cx="365760"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a:t>
            </a:r>
          </a:p>
        </p:txBody>
      </p:sp>
      <p:sp>
        <p:nvSpPr>
          <p:cNvPr id="23" name="TextBox 22"/>
          <p:cNvSpPr txBox="1"/>
          <p:nvPr/>
        </p:nvSpPr>
        <p:spPr>
          <a:xfrm>
            <a:off x="1481328" y="4507992"/>
            <a:ext cx="5623560" cy="475488"/>
          </a:xfrm>
          <a:prstGeom prst="rect">
            <a:avLst/>
          </a:prstGeom>
          <a:noFill/>
        </p:spPr>
        <p:txBody>
          <a:bodyPr wrap="square" lIns="27432" rIns="27432" tIns="27432" bIns="27432" anchor="t">
            <a:spAutoFit/>
          </a:bodyPr>
          <a:lstStyle/>
          <a:p>
            <a:pPr algn="l">
              <a:spcAft>
                <a:spcPts val="0"/>
              </a:spcAft>
            </a:pPr>
            <a:r>
              <a:rPr sz="1100" b="0">
                <a:solidFill>
                  <a:srgbClr val="161B26"/>
                </a:solidFill>
                <a:latin typeface="Arial"/>
              </a:rPr>
              <a:t>The AI diff contains no unrelated files, secrets, or unexplained dependency.</a:t>
            </a:r>
          </a:p>
        </p:txBody>
      </p:sp>
      <p:sp>
        <p:nvSpPr>
          <p:cNvPr id="24" name="Rounded Rectangle 23"/>
          <p:cNvSpPr/>
          <p:nvPr/>
        </p:nvSpPr>
        <p:spPr>
          <a:xfrm>
            <a:off x="7726679" y="1719072"/>
            <a:ext cx="3767328" cy="4160520"/>
          </a:xfrm>
          <a:prstGeom prst="roundRect">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1993392"/>
            <a:ext cx="3154680" cy="320040"/>
          </a:xfrm>
          <a:prstGeom prst="rect">
            <a:avLst/>
          </a:prstGeom>
          <a:noFill/>
        </p:spPr>
        <p:txBody>
          <a:bodyPr wrap="square" lIns="27432" rIns="27432" tIns="27432" bIns="27432" anchor="t">
            <a:spAutoFit/>
          </a:bodyPr>
          <a:lstStyle/>
          <a:p>
            <a:pPr algn="l">
              <a:spcAft>
                <a:spcPts val="0"/>
              </a:spcAft>
            </a:pPr>
            <a:r>
              <a:rPr sz="1400" b="1">
                <a:solidFill>
                  <a:srgbClr val="C2413A"/>
                </a:solidFill>
                <a:latin typeface="Arial"/>
              </a:rPr>
              <a:t>IF IT FAILS</a:t>
            </a:r>
          </a:p>
        </p:txBody>
      </p:sp>
      <p:sp>
        <p:nvSpPr>
          <p:cNvPr id="26" name="Oval 25"/>
          <p:cNvSpPr/>
          <p:nvPr/>
        </p:nvSpPr>
        <p:spPr>
          <a:xfrm>
            <a:off x="8028431" y="2542032"/>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1" y="2615184"/>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1</a:t>
            </a:r>
          </a:p>
        </p:txBody>
      </p:sp>
      <p:sp>
        <p:nvSpPr>
          <p:cNvPr id="28" name="TextBox 27"/>
          <p:cNvSpPr txBox="1"/>
          <p:nvPr/>
        </p:nvSpPr>
        <p:spPr>
          <a:xfrm>
            <a:off x="8540496" y="2523744"/>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Read the first build error</a:t>
            </a:r>
          </a:p>
        </p:txBody>
      </p:sp>
      <p:sp>
        <p:nvSpPr>
          <p:cNvPr id="29" name="Oval 28"/>
          <p:cNvSpPr/>
          <p:nvPr/>
        </p:nvSpPr>
        <p:spPr>
          <a:xfrm>
            <a:off x="8028431" y="3200400"/>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3273552"/>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2</a:t>
            </a:r>
          </a:p>
        </p:txBody>
      </p:sp>
      <p:sp>
        <p:nvSpPr>
          <p:cNvPr id="31" name="TextBox 30"/>
          <p:cNvSpPr txBox="1"/>
          <p:nvPr/>
        </p:nvSpPr>
        <p:spPr>
          <a:xfrm>
            <a:off x="8540496" y="3182112"/>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Confirm SDK/package version</a:t>
            </a:r>
          </a:p>
        </p:txBody>
      </p:sp>
      <p:sp>
        <p:nvSpPr>
          <p:cNvPr id="32" name="Oval 31"/>
          <p:cNvSpPr/>
          <p:nvPr/>
        </p:nvSpPr>
        <p:spPr>
          <a:xfrm>
            <a:off x="8028431" y="3858768"/>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3931920"/>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3</a:t>
            </a:r>
          </a:p>
        </p:txBody>
      </p:sp>
      <p:sp>
        <p:nvSpPr>
          <p:cNvPr id="34" name="TextBox 33"/>
          <p:cNvSpPr txBox="1"/>
          <p:nvPr/>
        </p:nvSpPr>
        <p:spPr>
          <a:xfrm>
            <a:off x="8540496" y="3840480"/>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Compare method + route + content type</a:t>
            </a:r>
          </a:p>
        </p:txBody>
      </p:sp>
      <p:sp>
        <p:nvSpPr>
          <p:cNvPr id="35" name="Oval 34"/>
          <p:cNvSpPr/>
          <p:nvPr/>
        </p:nvSpPr>
        <p:spPr>
          <a:xfrm>
            <a:off x="8028431" y="4517136"/>
            <a:ext cx="347472" cy="347472"/>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4590288"/>
            <a:ext cx="347472" cy="164592"/>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rial"/>
              </a:rPr>
              <a:t>4</a:t>
            </a:r>
          </a:p>
        </p:txBody>
      </p:sp>
      <p:sp>
        <p:nvSpPr>
          <p:cNvPr id="37" name="TextBox 36"/>
          <p:cNvSpPr txBox="1"/>
          <p:nvPr/>
        </p:nvSpPr>
        <p:spPr>
          <a:xfrm>
            <a:off x="8540496" y="4498848"/>
            <a:ext cx="2542032" cy="438912"/>
          </a:xfrm>
          <a:prstGeom prst="rect">
            <a:avLst/>
          </a:prstGeom>
          <a:noFill/>
        </p:spPr>
        <p:txBody>
          <a:bodyPr wrap="square" lIns="27432" rIns="27432" tIns="27432" bIns="27432" anchor="t">
            <a:spAutoFit/>
          </a:bodyPr>
          <a:lstStyle/>
          <a:p>
            <a:pPr algn="l">
              <a:spcAft>
                <a:spcPts val="0"/>
              </a:spcAft>
            </a:pPr>
            <a:r>
              <a:rPr sz="1050" b="0">
                <a:solidFill>
                  <a:srgbClr val="161B26"/>
                </a:solidFill>
                <a:latin typeface="Arial"/>
              </a:rPr>
              <a:t>Reset to the prior Activity snapshot</a:t>
            </a:r>
          </a:p>
        </p:txBody>
      </p:sp>
      <p:sp>
        <p:nvSpPr>
          <p:cNvPr id="38" name="Rounded Rectangle 37"/>
          <p:cNvSpPr/>
          <p:nvPr/>
        </p:nvSpPr>
        <p:spPr>
          <a:xfrm>
            <a:off x="8028431" y="5321808"/>
            <a:ext cx="1600200" cy="292608"/>
          </a:xfrm>
          <a:prstGeom prst="round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5349240"/>
            <a:ext cx="1600200" cy="201168"/>
          </a:xfrm>
          <a:prstGeom prst="rect">
            <a:avLst/>
          </a:prstGeom>
          <a:noFill/>
        </p:spPr>
        <p:txBody>
          <a:bodyPr wrap="square" lIns="27432" rIns="27432" tIns="27432" bIns="27432" anchor="t">
            <a:spAutoFit/>
          </a:bodyPr>
          <a:lstStyle/>
          <a:p>
            <a:pPr algn="ctr">
              <a:spcAft>
                <a:spcPts val="0"/>
              </a:spcAft>
            </a:pPr>
            <a:r>
              <a:rPr sz="900" b="1">
                <a:solidFill>
                  <a:srgbClr val="FFFFFF"/>
                </a:solidFill>
                <a:latin typeface="Arial"/>
              </a:rPr>
              <a:t>K5/A5 EVIDENCE</a:t>
            </a:r>
          </a:p>
        </p:txBody>
      </p:sp>
    </p:spTree>
  </p:cSld>
  <p:clrMapOvr>
    <a:masterClrMapping/>
  </p:clrMapOvr>
  <p:transition spd="fast">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LO5 · K5 / A5</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Topic 5 · Evidence Recap</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222</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Architecture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Name the component boundary and owner.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Mechanism</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Trace the runtime/data flow in order.</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Contract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Point to fields, configuration, code or status semantics.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Failure</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Recognise the named signal and likely cause.</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Verification</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Produce repeatable command or UI evidence.</a:t>
            </a:r>
          </a:p>
        </p:txBody>
      </p:sp>
      <p:sp>
        <p:nvSpPr>
          <p:cNvPr id="40" name="Rounded Rectangle 39"/>
          <p:cNvSpPr/>
          <p:nvPr/>
        </p:nvSpPr>
        <p:spPr>
          <a:xfrm>
            <a:off x="61447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4768" y="4462272"/>
            <a:ext cx="82296" cy="1234440"/>
          </a:xfrm>
          <a:prstGeom prst="rect">
            <a:avLst/>
          </a:prstGeom>
          <a:solidFill>
            <a:srgbClr val="C2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64224" y="464515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6</a:t>
            </a:r>
          </a:p>
        </p:txBody>
      </p:sp>
      <p:sp>
        <p:nvSpPr>
          <p:cNvPr id="44" name="TextBox 43"/>
          <p:cNvSpPr txBox="1"/>
          <p:nvPr/>
        </p:nvSpPr>
        <p:spPr>
          <a:xfrm>
            <a:off x="68945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Activity link</a:t>
            </a:r>
          </a:p>
        </p:txBody>
      </p:sp>
      <p:sp>
        <p:nvSpPr>
          <p:cNvPr id="45" name="TextBox 44"/>
          <p:cNvSpPr txBox="1"/>
          <p:nvPr/>
        </p:nvSpPr>
        <p:spPr>
          <a:xfrm>
            <a:off x="64008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cumulative LocalCRM snapshot for this LO.</a:t>
            </a:r>
          </a:p>
        </p:txBody>
      </p:sp>
    </p:spTree>
  </p:cSld>
  <p:clrMapOvr>
    <a:masterClrMapping/>
  </p:clrMapOvr>
  <p:transition spd="fast">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WHAT YOU CAN NOW PROVE</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Course Synthesis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223</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LO1</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Determine basic software components using ASP.NET framework to meet functional specifications.</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LO2</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Utilize ASP.NET framework to develop web apps in adherence to organizational practices.</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LO3</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Select essential ASP.NET controls and features to meet software design requirements.</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LO4</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Examine the interoperability and functionality of ASP.NET software components.</a:t>
            </a:r>
          </a:p>
        </p:txBody>
      </p:sp>
      <p:sp>
        <p:nvSpPr>
          <p:cNvPr id="34" name="Rounded Rectangle 33"/>
          <p:cNvSpPr/>
          <p:nvPr/>
        </p:nvSpPr>
        <p:spPr>
          <a:xfrm>
            <a:off x="658368" y="4462272"/>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462272"/>
            <a:ext cx="82296" cy="1234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7824" y="464515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4736592"/>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5</a:t>
            </a:r>
          </a:p>
        </p:txBody>
      </p:sp>
      <p:sp>
        <p:nvSpPr>
          <p:cNvPr id="38" name="TextBox 37"/>
          <p:cNvSpPr txBox="1"/>
          <p:nvPr/>
        </p:nvSpPr>
        <p:spPr>
          <a:xfrm>
            <a:off x="1408176" y="4590288"/>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LO5</a:t>
            </a:r>
          </a:p>
        </p:txBody>
      </p:sp>
      <p:sp>
        <p:nvSpPr>
          <p:cNvPr id="39" name="TextBox 38"/>
          <p:cNvSpPr txBox="1"/>
          <p:nvPr/>
        </p:nvSpPr>
        <p:spPr>
          <a:xfrm>
            <a:off x="914400" y="5020056"/>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Generate ASP.NET design documentation aligned with user specifications.</a:t>
            </a:r>
          </a:p>
        </p:txBody>
      </p:sp>
    </p:spTree>
  </p:cSld>
  <p:clrMapOvr>
    <a:masterClrMapping/>
  </p:clrMapOvr>
  <p:transition spd="fast">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DOWNLOAD · COMPLETE · SUBMIT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Courseware and Assessment on the LMS</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224</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Courseware</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Download the current slides and Learner Guide.</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Activities</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repository snapshots and mock CRM data.</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Assessment</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WA then PP in the assigned window.</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Submission</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Upload answers and required practical evidence.</a:t>
            </a:r>
          </a:p>
        </p:txBody>
      </p:sp>
      <p:sp>
        <p:nvSpPr>
          <p:cNvPr id="34" name="TextBox 33"/>
          <p:cNvSpPr txBox="1"/>
          <p:nvPr/>
        </p:nvSpPr>
        <p:spPr>
          <a:xfrm>
            <a:off x="914400" y="5696712"/>
            <a:ext cx="10058400" cy="246888"/>
          </a:xfrm>
          <a:prstGeom prst="rect">
            <a:avLst/>
          </a:prstGeom>
          <a:noFill/>
        </p:spPr>
        <p:txBody>
          <a:bodyPr wrap="square" lIns="27432" rIns="27432" tIns="27432" bIns="27432" anchor="t">
            <a:spAutoFit/>
          </a:bodyPr>
          <a:lstStyle/>
          <a:p>
            <a:pPr algn="ctr">
              <a:spcAft>
                <a:spcPts val="0"/>
              </a:spcAft>
            </a:pPr>
            <a:r>
              <a:rPr sz="1100" b="1">
                <a:solidFill>
                  <a:srgbClr val="1F6FEB"/>
                </a:solidFill>
                <a:latin typeface="Arial"/>
                <a:hlinkClick r:id="rId2"/>
              </a:rPr>
              <a:t>https://lms-tms.tertiaryinfotech.com/</a:t>
            </a:r>
          </a:p>
        </p:txBody>
      </p:sp>
    </p:spTree>
  </p:cSld>
  <p:clrMapOvr>
    <a:masterClrMapping/>
  </p:clrMapOvr>
  <p:transition spd="fast">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FINAL REMINDER · OPEN BOOK</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Assessment</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225</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WA · 16:00–17:00</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Five SAQ items assess K1–K5.</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PP · 17:00–18:00</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Five practical tasks assess A1–A5.</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Attendance</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Complete assessment digital attendance.</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Submission</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Upload evidence on the LMS and sign the record.</a:t>
            </a:r>
          </a:p>
        </p:txBody>
      </p:sp>
    </p:spTree>
  </p:cSld>
  <p:clrMapOvr>
    <a:masterClrMapping/>
  </p:clrMapOvr>
  <p:transition spd="fast">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FINAL MANDATORY SEQUENCE</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Assessment Flow</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226</a:t>
            </a:r>
          </a:p>
        </p:txBody>
      </p:sp>
      <p:sp>
        <p:nvSpPr>
          <p:cNvPr id="10" name="Rounded Rectangle 9"/>
          <p:cNvSpPr/>
          <p:nvPr/>
        </p:nvSpPr>
        <p:spPr>
          <a:xfrm>
            <a:off x="777240"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44168" y="235000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1</a:t>
            </a:r>
          </a:p>
        </p:txBody>
      </p:sp>
      <p:sp>
        <p:nvSpPr>
          <p:cNvPr id="14" name="TextBox 13"/>
          <p:cNvSpPr txBox="1"/>
          <p:nvPr/>
        </p:nvSpPr>
        <p:spPr>
          <a:xfrm>
            <a:off x="941832"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TRAQOM</a:t>
            </a:r>
          </a:p>
        </p:txBody>
      </p:sp>
      <p:cxnSp>
        <p:nvCxnSpPr>
          <p:cNvPr id="15" name="Connector 14"/>
          <p:cNvCxnSpPr/>
          <p:nvPr/>
        </p:nvCxnSpPr>
        <p:spPr>
          <a:xfrm>
            <a:off x="2651760" y="3227832"/>
            <a:ext cx="28346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962656"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965960"/>
            <a:ext cx="1874519" cy="91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29584" y="235000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2</a:t>
            </a:r>
          </a:p>
        </p:txBody>
      </p:sp>
      <p:sp>
        <p:nvSpPr>
          <p:cNvPr id="20" name="TextBox 19"/>
          <p:cNvSpPr txBox="1"/>
          <p:nvPr/>
        </p:nvSpPr>
        <p:spPr>
          <a:xfrm>
            <a:off x="3127248"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Assessment digital attendance</a:t>
            </a:r>
          </a:p>
        </p:txBody>
      </p:sp>
      <p:cxnSp>
        <p:nvCxnSpPr>
          <p:cNvPr id="21" name="Connector 20"/>
          <p:cNvCxnSpPr/>
          <p:nvPr/>
        </p:nvCxnSpPr>
        <p:spPr>
          <a:xfrm>
            <a:off x="4837176" y="3227832"/>
            <a:ext cx="283464"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157216"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965960"/>
            <a:ext cx="1874519" cy="91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24144" y="235000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3</a:t>
            </a:r>
          </a:p>
        </p:txBody>
      </p:sp>
      <p:sp>
        <p:nvSpPr>
          <p:cNvPr id="26" name="TextBox 25"/>
          <p:cNvSpPr txBox="1"/>
          <p:nvPr/>
        </p:nvSpPr>
        <p:spPr>
          <a:xfrm>
            <a:off x="5321807"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Sit WA then PP</a:t>
            </a:r>
          </a:p>
        </p:txBody>
      </p:sp>
      <p:cxnSp>
        <p:nvCxnSpPr>
          <p:cNvPr id="27" name="Connector 26"/>
          <p:cNvCxnSpPr/>
          <p:nvPr/>
        </p:nvCxnSpPr>
        <p:spPr>
          <a:xfrm>
            <a:off x="7031736" y="3227832"/>
            <a:ext cx="28346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2631"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965960"/>
            <a:ext cx="1874519"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9559" y="235000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4</a:t>
            </a:r>
          </a:p>
        </p:txBody>
      </p:sp>
      <p:sp>
        <p:nvSpPr>
          <p:cNvPr id="32" name="TextBox 31"/>
          <p:cNvSpPr txBox="1"/>
          <p:nvPr/>
        </p:nvSpPr>
        <p:spPr>
          <a:xfrm>
            <a:off x="7507223"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Submit answers on LMS</a:t>
            </a:r>
          </a:p>
        </p:txBody>
      </p:sp>
      <p:cxnSp>
        <p:nvCxnSpPr>
          <p:cNvPr id="33" name="Connector 32"/>
          <p:cNvCxnSpPr/>
          <p:nvPr/>
        </p:nvCxnSpPr>
        <p:spPr>
          <a:xfrm>
            <a:off x="9217151" y="3227832"/>
            <a:ext cx="283464"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37192" y="1965960"/>
            <a:ext cx="1874519" cy="3127248"/>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4119" y="235000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4119" y="2468880"/>
            <a:ext cx="749808" cy="338328"/>
          </a:xfrm>
          <a:prstGeom prst="rect">
            <a:avLst/>
          </a:prstGeom>
          <a:noFill/>
        </p:spPr>
        <p:txBody>
          <a:bodyPr wrap="square" lIns="27432" rIns="27432" tIns="27432" bIns="27432" anchor="t">
            <a:spAutoFit/>
          </a:bodyPr>
          <a:lstStyle/>
          <a:p>
            <a:pPr algn="ctr">
              <a:spcAft>
                <a:spcPts val="0"/>
              </a:spcAft>
            </a:pPr>
            <a:r>
              <a:rPr sz="2600" b="1">
                <a:solidFill>
                  <a:srgbClr val="FFFFFF"/>
                </a:solidFill>
                <a:latin typeface="Arial"/>
              </a:rPr>
              <a:t>5</a:t>
            </a:r>
          </a:p>
        </p:txBody>
      </p:sp>
      <p:sp>
        <p:nvSpPr>
          <p:cNvPr id="38" name="TextBox 37"/>
          <p:cNvSpPr txBox="1"/>
          <p:nvPr/>
        </p:nvSpPr>
        <p:spPr>
          <a:xfrm>
            <a:off x="9701784" y="3474720"/>
            <a:ext cx="1545336" cy="1005840"/>
          </a:xfrm>
          <a:prstGeom prst="rect">
            <a:avLst/>
          </a:prstGeom>
          <a:noFill/>
        </p:spPr>
        <p:txBody>
          <a:bodyPr wrap="square" lIns="27432" rIns="27432" tIns="27432" bIns="27432" anchor="t">
            <a:spAutoFit/>
          </a:bodyPr>
          <a:lstStyle/>
          <a:p>
            <a:pPr algn="ctr">
              <a:spcAft>
                <a:spcPts val="0"/>
              </a:spcAft>
            </a:pPr>
            <a:r>
              <a:rPr sz="1300" b="1">
                <a:solidFill>
                  <a:srgbClr val="161B26"/>
                </a:solidFill>
                <a:latin typeface="Arial"/>
              </a:rPr>
              <a:t>Sign Summary Record</a:t>
            </a:r>
          </a:p>
        </p:txBody>
      </p:sp>
      <p:sp>
        <p:nvSpPr>
          <p:cNvPr id="39" name="Rectangle 38"/>
          <p:cNvSpPr/>
          <p:nvPr/>
        </p:nvSpPr>
        <p:spPr>
          <a:xfrm>
            <a:off x="658368" y="5367528"/>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495544"/>
            <a:ext cx="10378440" cy="201168"/>
          </a:xfrm>
          <a:prstGeom prst="rect">
            <a:avLst/>
          </a:prstGeom>
          <a:noFill/>
        </p:spPr>
        <p:txBody>
          <a:bodyPr wrap="square" lIns="27432" rIns="27432" tIns="27432" bIns="27432" anchor="t">
            <a:spAutoFit/>
          </a:bodyPr>
          <a:lstStyle/>
          <a:p>
            <a:pPr algn="ctr">
              <a:spcAft>
                <a:spcPts val="0"/>
              </a:spcAft>
            </a:pPr>
            <a:r>
              <a:rPr sz="1050" b="1">
                <a:solidFill>
                  <a:srgbClr val="161B26"/>
                </a:solidFill>
                <a:latin typeface="Arial"/>
              </a:rPr>
              <a:t>Courseware and assessment: https://lms-tms.tertiaryinfotech.com/</a:t>
            </a:r>
          </a:p>
        </p:txBody>
      </p:sp>
    </p:spTree>
  </p:cSld>
  <p:clrMapOvr>
    <a:masterClrMapping/>
  </p:clrMapOvr>
  <p:transition spd="fast">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lIns="27432" rIns="27432" tIns="27432" bIns="27432" anchor="t">
            <a:spAutoFit/>
          </a:bodyPr>
          <a:lstStyle/>
          <a:p>
            <a:pPr algn="l">
              <a:spcAft>
                <a:spcPts val="0"/>
              </a:spcAft>
            </a:pPr>
            <a:r>
              <a:rPr sz="1200" b="1">
                <a:solidFill>
                  <a:srgbClr val="1F6FEB"/>
                </a:solidFill>
                <a:latin typeface="Arial"/>
              </a:rPr>
              <a:t>TRAQOM · SSG · ASSESSMENT</a:t>
            </a:r>
          </a:p>
        </p:txBody>
      </p:sp>
      <p:sp>
        <p:nvSpPr>
          <p:cNvPr id="5" name="TextBox 4"/>
          <p:cNvSpPr txBox="1"/>
          <p:nvPr/>
        </p:nvSpPr>
        <p:spPr>
          <a:xfrm>
            <a:off x="658368" y="621792"/>
            <a:ext cx="10835640" cy="822960"/>
          </a:xfrm>
          <a:prstGeom prst="rect">
            <a:avLst/>
          </a:prstGeom>
          <a:noFill/>
        </p:spPr>
        <p:txBody>
          <a:bodyPr wrap="square" lIns="27432" rIns="27432" tIns="27432" bIns="27432" anchor="t">
            <a:spAutoFit/>
          </a:bodyPr>
          <a:lstStyle/>
          <a:p>
            <a:pPr algn="l">
              <a:spcAft>
                <a:spcPts val="0"/>
              </a:spcAft>
            </a:pPr>
            <a:r>
              <a:rPr sz="2900" b="1">
                <a:solidFill>
                  <a:srgbClr val="161B26"/>
                </a:solidFill>
                <a:latin typeface="Arial"/>
              </a:rPr>
              <a:t>Digital Attendance (Mandatory)</a:t>
            </a:r>
          </a:p>
        </p:txBody>
      </p:sp>
      <p:sp>
        <p:nvSpPr>
          <p:cNvPr id="6" name="Rectangle 5"/>
          <p:cNvSpPr/>
          <p:nvPr/>
        </p:nvSpPr>
        <p:spPr>
          <a:xfrm>
            <a:off x="658368" y="1499616"/>
            <a:ext cx="10835640" cy="9144"/>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227</a:t>
            </a:r>
          </a:p>
        </p:txBody>
      </p:sp>
      <p:sp>
        <p:nvSpPr>
          <p:cNvPr id="10" name="Rounded Rectangle 9"/>
          <p:cNvSpPr/>
          <p:nvPr/>
        </p:nvSpPr>
        <p:spPr>
          <a:xfrm>
            <a:off x="6583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700784"/>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83664"/>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1</a:t>
            </a:r>
          </a:p>
        </p:txBody>
      </p:sp>
      <p:sp>
        <p:nvSpPr>
          <p:cNvPr id="14" name="TextBox 13"/>
          <p:cNvSpPr txBox="1"/>
          <p:nvPr/>
        </p:nvSpPr>
        <p:spPr>
          <a:xfrm>
            <a:off x="14081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Scan</a:t>
            </a:r>
          </a:p>
        </p:txBody>
      </p:sp>
      <p:sp>
        <p:nvSpPr>
          <p:cNvPr id="15" name="TextBox 14"/>
          <p:cNvSpPr txBox="1"/>
          <p:nvPr/>
        </p:nvSpPr>
        <p:spPr>
          <a:xfrm>
            <a:off x="9144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Use the QR code shown by trainer/administrator.</a:t>
            </a:r>
          </a:p>
        </p:txBody>
      </p:sp>
      <p:sp>
        <p:nvSpPr>
          <p:cNvPr id="16" name="Rounded Rectangle 15"/>
          <p:cNvSpPr/>
          <p:nvPr/>
        </p:nvSpPr>
        <p:spPr>
          <a:xfrm>
            <a:off x="6144768" y="1700784"/>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1700784"/>
            <a:ext cx="82296" cy="1234440"/>
          </a:xfrm>
          <a:prstGeom prst="rect">
            <a:avLst/>
          </a:prstGeom>
          <a:solidFill>
            <a:srgbClr val="6D3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64224" y="1883664"/>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975104"/>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2</a:t>
            </a:r>
          </a:p>
        </p:txBody>
      </p:sp>
      <p:sp>
        <p:nvSpPr>
          <p:cNvPr id="20" name="TextBox 19"/>
          <p:cNvSpPr txBox="1"/>
          <p:nvPr/>
        </p:nvSpPr>
        <p:spPr>
          <a:xfrm>
            <a:off x="6894576" y="1828800"/>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Submit</a:t>
            </a:r>
          </a:p>
        </p:txBody>
      </p:sp>
      <p:sp>
        <p:nvSpPr>
          <p:cNvPr id="21" name="TextBox 20"/>
          <p:cNvSpPr txBox="1"/>
          <p:nvPr/>
        </p:nvSpPr>
        <p:spPr>
          <a:xfrm>
            <a:off x="6400800" y="2258568"/>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Confirm the assessment attendance event.</a:t>
            </a:r>
          </a:p>
        </p:txBody>
      </p:sp>
      <p:sp>
        <p:nvSpPr>
          <p:cNvPr id="22" name="Rounded Rectangle 21"/>
          <p:cNvSpPr/>
          <p:nvPr/>
        </p:nvSpPr>
        <p:spPr>
          <a:xfrm>
            <a:off x="6583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81528"/>
            <a:ext cx="82296" cy="1234440"/>
          </a:xfrm>
          <a:prstGeom prst="rect">
            <a:avLst/>
          </a:prstGeom>
          <a:solidFill>
            <a:srgbClr val="10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 y="326440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3</a:t>
            </a:r>
          </a:p>
        </p:txBody>
      </p:sp>
      <p:sp>
        <p:nvSpPr>
          <p:cNvPr id="26" name="TextBox 25"/>
          <p:cNvSpPr txBox="1"/>
          <p:nvPr/>
        </p:nvSpPr>
        <p:spPr>
          <a:xfrm>
            <a:off x="14081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Check</a:t>
            </a:r>
          </a:p>
        </p:txBody>
      </p:sp>
      <p:sp>
        <p:nvSpPr>
          <p:cNvPr id="27" name="TextBox 26"/>
          <p:cNvSpPr txBox="1"/>
          <p:nvPr/>
        </p:nvSpPr>
        <p:spPr>
          <a:xfrm>
            <a:off x="9144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Resolve any missing record before leaving.</a:t>
            </a:r>
          </a:p>
        </p:txBody>
      </p:sp>
      <p:sp>
        <p:nvSpPr>
          <p:cNvPr id="28" name="Rounded Rectangle 27"/>
          <p:cNvSpPr/>
          <p:nvPr/>
        </p:nvSpPr>
        <p:spPr>
          <a:xfrm>
            <a:off x="6144768" y="3081528"/>
            <a:ext cx="5349240" cy="1234440"/>
          </a:xfrm>
          <a:prstGeom prst="round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3081528"/>
            <a:ext cx="82296" cy="1234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326440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3355848"/>
            <a:ext cx="420624" cy="164592"/>
          </a:xfrm>
          <a:prstGeom prst="rect">
            <a:avLst/>
          </a:prstGeom>
          <a:noFill/>
        </p:spPr>
        <p:txBody>
          <a:bodyPr wrap="square" lIns="27432" rIns="27432" tIns="27432" bIns="27432" anchor="t">
            <a:spAutoFit/>
          </a:bodyPr>
          <a:lstStyle/>
          <a:p>
            <a:pPr algn="ctr">
              <a:spcAft>
                <a:spcPts val="0"/>
              </a:spcAft>
            </a:pPr>
            <a:r>
              <a:rPr sz="1100" b="1">
                <a:solidFill>
                  <a:srgbClr val="FFFFFF"/>
                </a:solidFill>
                <a:latin typeface="Arial"/>
              </a:rPr>
              <a:t>4</a:t>
            </a:r>
          </a:p>
        </p:txBody>
      </p:sp>
      <p:sp>
        <p:nvSpPr>
          <p:cNvPr id="32" name="TextBox 31"/>
          <p:cNvSpPr txBox="1"/>
          <p:nvPr/>
        </p:nvSpPr>
        <p:spPr>
          <a:xfrm>
            <a:off x="6894576" y="3209544"/>
            <a:ext cx="4315968" cy="256032"/>
          </a:xfrm>
          <a:prstGeom prst="rect">
            <a:avLst/>
          </a:prstGeom>
          <a:noFill/>
        </p:spPr>
        <p:txBody>
          <a:bodyPr wrap="square" lIns="27432" rIns="27432" tIns="27432" bIns="27432" anchor="t">
            <a:spAutoFit/>
          </a:bodyPr>
          <a:lstStyle/>
          <a:p>
            <a:pPr algn="l">
              <a:spcAft>
                <a:spcPts val="0"/>
              </a:spcAft>
            </a:pPr>
            <a:r>
              <a:rPr sz="1350" b="1">
                <a:solidFill>
                  <a:srgbClr val="161B26"/>
                </a:solidFill>
                <a:latin typeface="Arial"/>
              </a:rPr>
              <a:t>Protect</a:t>
            </a:r>
          </a:p>
        </p:txBody>
      </p:sp>
      <p:sp>
        <p:nvSpPr>
          <p:cNvPr id="33" name="TextBox 32"/>
          <p:cNvSpPr txBox="1"/>
          <p:nvPr/>
        </p:nvSpPr>
        <p:spPr>
          <a:xfrm>
            <a:off x="6400800" y="3639312"/>
            <a:ext cx="4791456" cy="576072"/>
          </a:xfrm>
          <a:prstGeom prst="rect">
            <a:avLst/>
          </a:prstGeom>
          <a:noFill/>
        </p:spPr>
        <p:txBody>
          <a:bodyPr wrap="square" lIns="27432" rIns="27432" tIns="27432" bIns="27432" anchor="t">
            <a:spAutoFit/>
          </a:bodyPr>
          <a:lstStyle/>
          <a:p>
            <a:pPr algn="l">
              <a:spcAft>
                <a:spcPts val="0"/>
              </a:spcAft>
            </a:pPr>
            <a:r>
              <a:rPr sz="1050" b="0">
                <a:solidFill>
                  <a:srgbClr val="5B6372"/>
                </a:solidFill>
                <a:latin typeface="Arial"/>
              </a:rPr>
              <a:t>Do not photograph the assessment script.</a:t>
            </a:r>
          </a:p>
        </p:txBody>
      </p:sp>
    </p:spTree>
  </p:cSld>
  <p:clrMapOvr>
    <a:masterClrMapping/>
  </p:clrMapOvr>
  <p:transition spd="fast">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607040" cy="384048"/>
          </a:xfrm>
          <a:prstGeom prst="rect">
            <a:avLst/>
          </a:prstGeom>
          <a:noFill/>
        </p:spPr>
        <p:txBody>
          <a:bodyPr wrap="square" lIns="27432" rIns="27432" tIns="27432" bIns="27432" anchor="t">
            <a:spAutoFit/>
          </a:bodyPr>
          <a:lstStyle/>
          <a:p>
            <a:pPr algn="ctr">
              <a:spcAft>
                <a:spcPts val="0"/>
              </a:spcAft>
            </a:pPr>
            <a:r>
              <a:rPr sz="1500" b="1">
                <a:solidFill>
                  <a:srgbClr val="1F6FEB"/>
                </a:solidFill>
                <a:latin typeface="Arial"/>
              </a:rPr>
              <a:t>THANK YOU</a:t>
            </a:r>
          </a:p>
        </p:txBody>
      </p:sp>
      <p:sp>
        <p:nvSpPr>
          <p:cNvPr id="5" name="TextBox 4"/>
          <p:cNvSpPr txBox="1"/>
          <p:nvPr/>
        </p:nvSpPr>
        <p:spPr>
          <a:xfrm>
            <a:off x="822960" y="2743200"/>
            <a:ext cx="10607040" cy="841248"/>
          </a:xfrm>
          <a:prstGeom prst="rect">
            <a:avLst/>
          </a:prstGeom>
          <a:noFill/>
        </p:spPr>
        <p:txBody>
          <a:bodyPr wrap="square" lIns="27432" rIns="27432" tIns="27432" bIns="27432" anchor="t">
            <a:spAutoFit/>
          </a:bodyPr>
          <a:lstStyle/>
          <a:p>
            <a:pPr algn="ctr">
              <a:spcAft>
                <a:spcPts val="0"/>
              </a:spcAft>
            </a:pPr>
            <a:r>
              <a:rPr sz="3800" b="1">
                <a:solidFill>
                  <a:srgbClr val="161B26"/>
                </a:solidFill>
                <a:latin typeface="Arial"/>
              </a:rPr>
              <a:t>Build it. Inspect it. Prove it.</a:t>
            </a:r>
          </a:p>
        </p:txBody>
      </p:sp>
      <p:sp>
        <p:nvSpPr>
          <p:cNvPr id="6" name="TextBox 5"/>
          <p:cNvSpPr txBox="1"/>
          <p:nvPr/>
        </p:nvSpPr>
        <p:spPr>
          <a:xfrm>
            <a:off x="822960" y="3931920"/>
            <a:ext cx="10607040" cy="411480"/>
          </a:xfrm>
          <a:prstGeom prst="rect">
            <a:avLst/>
          </a:prstGeom>
          <a:noFill/>
        </p:spPr>
        <p:txBody>
          <a:bodyPr wrap="square" lIns="27432" rIns="27432" tIns="27432" bIns="27432" anchor="t">
            <a:spAutoFit/>
          </a:bodyPr>
          <a:lstStyle/>
          <a:p>
            <a:pPr algn="ctr">
              <a:spcAft>
                <a:spcPts val="0"/>
              </a:spcAft>
            </a:pPr>
            <a:r>
              <a:rPr sz="1500" b="0">
                <a:solidFill>
                  <a:srgbClr val="5B6372"/>
                </a:solidFill>
                <a:latin typeface="Arial"/>
              </a:rPr>
              <a:t>enquiry@tertiaryinfotech.com · +65 6100 0613</a:t>
            </a:r>
          </a:p>
        </p:txBody>
      </p:sp>
      <p:sp>
        <p:nvSpPr>
          <p:cNvPr id="7" name="TextBox 6"/>
          <p:cNvSpPr txBox="1"/>
          <p:nvPr/>
        </p:nvSpPr>
        <p:spPr>
          <a:xfrm>
            <a:off x="658368" y="6355080"/>
            <a:ext cx="4389120" cy="219456"/>
          </a:xfrm>
          <a:prstGeom prst="rect">
            <a:avLst/>
          </a:prstGeom>
          <a:noFill/>
        </p:spPr>
        <p:txBody>
          <a:bodyPr wrap="square" lIns="27432" rIns="27432" tIns="27432" bIns="27432" anchor="t">
            <a:spAutoFit/>
          </a:bodyPr>
          <a:lstStyle/>
          <a:p>
            <a:pPr algn="l">
              <a:spcAft>
                <a:spcPts val="0"/>
              </a:spcAft>
            </a:pPr>
            <a:r>
              <a:rPr sz="800" b="0">
                <a:solidFill>
                  <a:srgbClr val="5B6372"/>
                </a:solidFill>
                <a:latin typeface="Arial"/>
              </a:rPr>
              <a:t>Build ASP.NET Web Apps with Vibe Coding · TGS-2023040477</a:t>
            </a:r>
          </a:p>
        </p:txBody>
      </p:sp>
      <p:sp>
        <p:nvSpPr>
          <p:cNvPr id="8" name="TextBox 7"/>
          <p:cNvSpPr txBox="1"/>
          <p:nvPr/>
        </p:nvSpPr>
        <p:spPr>
          <a:xfrm>
            <a:off x="4434840" y="6355080"/>
            <a:ext cx="4297680" cy="219456"/>
          </a:xfrm>
          <a:prstGeom prst="rect">
            <a:avLst/>
          </a:prstGeom>
          <a:noFill/>
        </p:spPr>
        <p:txBody>
          <a:bodyPr wrap="square" lIns="27432" rIns="27432" tIns="27432" bIns="27432" anchor="t">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35640" y="6355080"/>
            <a:ext cx="640080" cy="219456"/>
          </a:xfrm>
          <a:prstGeom prst="rect">
            <a:avLst/>
          </a:prstGeom>
          <a:noFill/>
        </p:spPr>
        <p:txBody>
          <a:bodyPr wrap="square" lIns="27432" rIns="27432" tIns="27432" bIns="27432" anchor="t">
            <a:spAutoFit/>
          </a:bodyPr>
          <a:lstStyle/>
          <a:p>
            <a:pPr algn="r">
              <a:spcAft>
                <a:spcPts val="0"/>
              </a:spcAft>
            </a:pPr>
            <a:r>
              <a:rPr sz="800" b="0">
                <a:solidFill>
                  <a:srgbClr val="5B6372"/>
                </a:solidFill>
                <a:latin typeface="Arial"/>
              </a:rPr>
              <a:t>228</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ASP.NET Web Apps with Vibe Coding</dc:title>
  <dc:subject>TGS-2023040477 · ICT-DES-3005-1.1 · WSQ v6.1</dc:subject>
  <dc:creator>Tertiary Infotech Academy Pte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